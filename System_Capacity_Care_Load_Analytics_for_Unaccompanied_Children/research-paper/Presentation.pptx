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8" r:id="rId4"/>
    <p:sldId id="258" r:id="rId5"/>
    <p:sldId id="266" r:id="rId6"/>
    <p:sldId id="267" r:id="rId7"/>
    <p:sldId id="259" r:id="rId8"/>
    <p:sldId id="261" r:id="rId9"/>
    <p:sldId id="262" r:id="rId10"/>
    <p:sldId id="260" r:id="rId11"/>
    <p:sldId id="264" r:id="rId12"/>
    <p:sldId id="265" r:id="rId13"/>
    <p:sldId id="269"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4" d="100"/>
          <a:sy n="74" d="100"/>
        </p:scale>
        <p:origin x="1013"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365D"/>
        </a:solidFill>
        <a:effectLst/>
      </p:bgPr>
    </p:bg>
    <p:spTree>
      <p:nvGrpSpPr>
        <p:cNvPr id="1" name=""/>
        <p:cNvGrpSpPr/>
        <p:nvPr/>
      </p:nvGrpSpPr>
      <p:grpSpPr>
        <a:xfrm>
          <a:off x="0" y="0"/>
          <a:ext cx="0" cy="0"/>
          <a:chOff x="0" y="0"/>
          <a:chExt cx="0" cy="0"/>
        </a:xfrm>
      </p:grpSpPr>
      <p:sp>
        <p:nvSpPr>
          <p:cNvPr id="2" name="Rectangle 1"/>
          <p:cNvSpPr/>
          <p:nvPr/>
        </p:nvSpPr>
        <p:spPr>
          <a:xfrm>
            <a:off x="166255" y="140277"/>
            <a:ext cx="11752118" cy="6577445"/>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245628"/>
            <a:ext cx="9406742" cy="1020792"/>
          </a:xfrm>
          <a:prstGeom prst="rect">
            <a:avLst/>
          </a:prstGeom>
          <a:noFill/>
        </p:spPr>
        <p:txBody>
          <a:bodyPr wrap="none">
            <a:spAutoFit/>
          </a:bodyPr>
          <a:lstStyle/>
          <a:p>
            <a:r>
              <a:rPr lang="en-US" sz="3200" b="1" dirty="0">
                <a:latin typeface="Bahnschrift SemiBold Condensed" panose="020B0502040204020203" pitchFamily="34" charset="0"/>
              </a:rPr>
              <a:t>System Capacity &amp; Care Load Analytics for Unaccompanied Children</a:t>
            </a:r>
          </a:p>
          <a:p>
            <a:pPr>
              <a:spcBef>
                <a:spcPts val="1000"/>
              </a:spcBef>
              <a:defRPr sz="2000">
                <a:solidFill>
                  <a:srgbClr val="3182CE"/>
                </a:solidFill>
              </a:defRPr>
            </a:pPr>
            <a:r>
              <a:rPr lang="en-US" dirty="0"/>
              <a:t>European Bank </a:t>
            </a:r>
            <a:endParaRPr dirty="0"/>
          </a:p>
        </p:txBody>
      </p:sp>
      <p:sp>
        <p:nvSpPr>
          <p:cNvPr id="4" name="TextBox 3"/>
          <p:cNvSpPr txBox="1"/>
          <p:nvPr/>
        </p:nvSpPr>
        <p:spPr>
          <a:xfrm>
            <a:off x="1097280" y="5728281"/>
            <a:ext cx="1904752" cy="830997"/>
          </a:xfrm>
          <a:prstGeom prst="rect">
            <a:avLst/>
          </a:prstGeom>
          <a:noFill/>
        </p:spPr>
        <p:txBody>
          <a:bodyPr wrap="none">
            <a:spAutoFit/>
          </a:bodyPr>
          <a:lstStyle/>
          <a:p>
            <a:pPr>
              <a:defRPr sz="1400">
                <a:solidFill>
                  <a:srgbClr val="2D3748"/>
                </a:solidFill>
              </a:defRPr>
            </a:pPr>
            <a:r>
              <a:rPr lang="en-US" sz="2000" b="1" dirty="0"/>
              <a:t>Muskan Sharma</a:t>
            </a:r>
          </a:p>
          <a:p>
            <a:pPr>
              <a:defRPr sz="1400">
                <a:solidFill>
                  <a:srgbClr val="2D3748"/>
                </a:solidFill>
              </a:defRPr>
            </a:pPr>
            <a:endParaRPr sz="2800" b="1" dirty="0"/>
          </a:p>
        </p:txBody>
      </p:sp>
      <p:pic>
        <p:nvPicPr>
          <p:cNvPr id="8" name="Picture 7">
            <a:extLst>
              <a:ext uri="{FF2B5EF4-FFF2-40B4-BE49-F238E27FC236}">
                <a16:creationId xmlns:a16="http://schemas.microsoft.com/office/drawing/2014/main" id="{7FDE1D4C-289F-03B9-55CA-1E2BBCF31EF7}"/>
              </a:ext>
            </a:extLst>
          </p:cNvPr>
          <p:cNvPicPr>
            <a:picLocks noChangeAspect="1"/>
          </p:cNvPicPr>
          <p:nvPr/>
        </p:nvPicPr>
        <p:blipFill>
          <a:blip r:embed="rId2"/>
          <a:stretch>
            <a:fillRect/>
          </a:stretch>
        </p:blipFill>
        <p:spPr>
          <a:xfrm>
            <a:off x="1097280" y="6044089"/>
            <a:ext cx="1463167" cy="39627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365760"/>
          </a:xfrm>
          <a:prstGeom prst="rect">
            <a:avLst/>
          </a:prstGeom>
          <a:noFill/>
        </p:spPr>
        <p:txBody>
          <a:bodyPr wrap="none">
            <a:spAutoFit/>
          </a:bodyPr>
          <a:lstStyle/>
          <a:p>
            <a:pPr>
              <a:defRPr sz="1000" b="1">
                <a:solidFill>
                  <a:srgbClr val="3182CE"/>
                </a:solidFill>
              </a:defRPr>
            </a:pPr>
            <a:r>
              <a:rPr dirty="0"/>
              <a:t>RESEARCH PAPER PRESENTATION</a:t>
            </a:r>
          </a:p>
        </p:txBody>
      </p:sp>
      <p:sp>
        <p:nvSpPr>
          <p:cNvPr id="3" name="TextBox 2"/>
          <p:cNvSpPr txBox="1"/>
          <p:nvPr/>
        </p:nvSpPr>
        <p:spPr>
          <a:xfrm>
            <a:off x="731520" y="640080"/>
            <a:ext cx="3943772" cy="492443"/>
          </a:xfrm>
          <a:prstGeom prst="rect">
            <a:avLst/>
          </a:prstGeom>
          <a:noFill/>
        </p:spPr>
        <p:txBody>
          <a:bodyPr wrap="none">
            <a:spAutoFit/>
          </a:bodyPr>
          <a:lstStyle/>
          <a:p>
            <a:pPr>
              <a:defRPr sz="2600" b="1">
                <a:solidFill>
                  <a:srgbClr val="1A365D"/>
                </a:solidFill>
              </a:defRPr>
            </a:pPr>
            <a:r>
              <a:rPr lang="en-US" sz="2600" b="1" dirty="0"/>
              <a:t>Introduction &amp; Background</a:t>
            </a:r>
            <a:endParaRPr dirty="0"/>
          </a:p>
        </p:txBody>
      </p:sp>
      <p:sp>
        <p:nvSpPr>
          <p:cNvPr id="4" name="Rounded Rectangle 3"/>
          <p:cNvSpPr/>
          <p:nvPr/>
        </p:nvSpPr>
        <p:spPr>
          <a:xfrm>
            <a:off x="731519" y="1132523"/>
            <a:ext cx="10989425" cy="4902517"/>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lvl="0"/>
            <a:r>
              <a:rPr lang="en-US" b="1" dirty="0"/>
              <a:t>Engagement Profiling:</a:t>
            </a:r>
            <a:r>
              <a:rPr lang="en-US" dirty="0"/>
              <a:t> Categorizes customers into key behavioral segments (e.g., </a:t>
            </a:r>
            <a:r>
              <a:rPr lang="en-US" i="1" dirty="0"/>
              <a:t>Active Engaged</a:t>
            </a:r>
            <a:r>
              <a:rPr lang="en-US" dirty="0"/>
              <a:t>, </a:t>
            </a:r>
            <a:r>
              <a:rPr lang="en-US" i="1" dirty="0"/>
              <a:t>Inactive Disengaged</a:t>
            </a:r>
            <a:r>
              <a:rPr lang="en-US" dirty="0"/>
              <a:t>, </a:t>
            </a:r>
            <a:r>
              <a:rPr lang="en-US" i="1" dirty="0"/>
              <a:t>Active Low-Product</a:t>
            </a:r>
            <a:r>
              <a:rPr lang="en-US" dirty="0"/>
              <a:t>, and </a:t>
            </a:r>
            <a:r>
              <a:rPr lang="en-US" i="1" dirty="0"/>
              <a:t>Inactive High-Balance</a:t>
            </a:r>
            <a:r>
              <a:rPr lang="en-US" dirty="0"/>
              <a:t>).</a:t>
            </a:r>
          </a:p>
          <a:p>
            <a:pPr lvl="0"/>
            <a:r>
              <a:rPr lang="en-US" b="1" dirty="0"/>
              <a:t>Product Utilization Analysis:</a:t>
            </a:r>
            <a:r>
              <a:rPr lang="en-US" dirty="0"/>
              <a:t> Examines how relationship depth (holding 1 vs. multiple bank products) impacts churn and customer retention.</a:t>
            </a:r>
          </a:p>
          <a:p>
            <a:pPr lvl="0"/>
            <a:r>
              <a:rPr lang="en-US" b="1" dirty="0"/>
              <a:t>Financial Commitment vs. Activity:</a:t>
            </a:r>
            <a:r>
              <a:rPr lang="en-US" dirty="0"/>
              <a:t> Identifies </a:t>
            </a:r>
            <a:r>
              <a:rPr lang="en-US" b="1" dirty="0"/>
              <a:t>"At-Risk Premium Customers"</a:t>
            </a:r>
            <a:r>
              <a:rPr lang="en-US" dirty="0"/>
              <a:t>—high-balance account holders who are inactive and single-product users, making them vulnerable to silent churn.</a:t>
            </a:r>
          </a:p>
          <a:p>
            <a:pPr lvl="0"/>
            <a:r>
              <a:rPr lang="en-US" b="1" dirty="0"/>
              <a:t>Retention Strength &amp; KPIs:</a:t>
            </a:r>
            <a:r>
              <a:rPr lang="en-US" dirty="0"/>
              <a:t> Tracks key metrics such as </a:t>
            </a:r>
            <a:r>
              <a:rPr lang="en-US" i="1" dirty="0"/>
              <a:t>Engagement Retention Ratio</a:t>
            </a:r>
            <a:r>
              <a:rPr lang="en-US" dirty="0"/>
              <a:t>, </a:t>
            </a:r>
            <a:r>
              <a:rPr lang="en-US" i="1" dirty="0"/>
              <a:t>Product Depth Index</a:t>
            </a:r>
            <a:r>
              <a:rPr lang="en-US" dirty="0"/>
              <a:t>, </a:t>
            </a:r>
            <a:r>
              <a:rPr lang="en-US" i="1" dirty="0"/>
              <a:t>High-Balance Disengagement Rate</a:t>
            </a:r>
            <a:r>
              <a:rPr lang="en-US" dirty="0"/>
              <a:t>, and </a:t>
            </a:r>
            <a:r>
              <a:rPr lang="en-US" i="1" dirty="0"/>
              <a:t>Relationship Strength Index</a:t>
            </a:r>
            <a:r>
              <a:rPr lang="en-US" dirty="0"/>
              <a:t> to measure overall account loyalty.</a:t>
            </a:r>
          </a:p>
          <a:p>
            <a:pPr lvl="0"/>
            <a:r>
              <a:rPr lang="en-US" b="1" dirty="0"/>
              <a:t>Interactive </a:t>
            </a:r>
            <a:r>
              <a:rPr lang="en-US" b="1" dirty="0" err="1"/>
              <a:t>Streamlit</a:t>
            </a:r>
            <a:r>
              <a:rPr lang="en-US" b="1" dirty="0"/>
              <a:t> Web App:</a:t>
            </a:r>
            <a:r>
              <a:rPr lang="en-US" dirty="0"/>
              <a:t> A dynamic analytics platform allowing stakeholders to filter by geography, product counts, active status, and financial thresholds to explore churn drivers in real time.</a:t>
            </a:r>
          </a:p>
        </p:txBody>
      </p:sp>
      <p:sp>
        <p:nvSpPr>
          <p:cNvPr id="5" name="TextBox 4"/>
          <p:cNvSpPr txBox="1"/>
          <p:nvPr/>
        </p:nvSpPr>
        <p:spPr>
          <a:xfrm>
            <a:off x="998910" y="1321623"/>
            <a:ext cx="10454641" cy="4247317"/>
          </a:xfrm>
          <a:prstGeom prst="rect">
            <a:avLst/>
          </a:prstGeom>
          <a:noFill/>
        </p:spPr>
        <p:txBody>
          <a:bodyPr wrap="square">
            <a:spAutoFit/>
          </a:bodyPr>
          <a:lstStyle/>
          <a:p>
            <a:r>
              <a:rPr lang="en-US" dirty="0"/>
              <a:t>The </a:t>
            </a:r>
            <a:r>
              <a:rPr lang="en-US" b="1" dirty="0"/>
              <a:t>System Capacity &amp; Care Load Analytics for Unaccompanied Children</a:t>
            </a:r>
            <a:r>
              <a:rPr lang="en-US" dirty="0"/>
              <a:t> initiative provides a comprehensive analytics framework to monitor, analyze, and forecast the operational capacity of federal child welfare pipelines.</a:t>
            </a:r>
          </a:p>
          <a:p>
            <a:r>
              <a:rPr lang="en-US" dirty="0"/>
              <a:t>Every year, thousands of Unaccompanied Alien Children (UAC) cross the U.S. border. Managing their safety, healthcare, and transition requires seamless coordination between law enforcement and social service agencies. This project translates raw operational counts into actionable capacity metrics, allowing decision-makers to anticipate stress windows, evaluate humanitarian responses, and maintain high standards of child welfare delivery.</a:t>
            </a:r>
          </a:p>
          <a:p>
            <a:endParaRPr lang="en-US" dirty="0"/>
          </a:p>
          <a:p>
            <a:pPr lvl="0"/>
            <a:r>
              <a:rPr lang="en-US" b="1" dirty="0"/>
              <a:t>Intake &amp; Initial Custody:</a:t>
            </a:r>
            <a:r>
              <a:rPr lang="en-US" dirty="0"/>
              <a:t> CBP processes initial border apprehensions and holds children in short-term custody.</a:t>
            </a:r>
          </a:p>
          <a:p>
            <a:pPr lvl="0"/>
            <a:r>
              <a:rPr lang="en-US" b="1" dirty="0"/>
              <a:t>HHS Care &amp; Support:</a:t>
            </a:r>
            <a:r>
              <a:rPr lang="en-US" dirty="0"/>
              <a:t> Children are transferred to HHS-funded shelters for medical evaluations, quarantine, and holistic welfare support.</a:t>
            </a:r>
          </a:p>
          <a:p>
            <a:pPr lvl="0"/>
            <a:r>
              <a:rPr lang="en-US" b="1" dirty="0"/>
              <a:t>Discharge &amp; Placement:</a:t>
            </a:r>
            <a:r>
              <a:rPr lang="en-US" dirty="0"/>
              <a:t> Children are discharged from HHS care once eligible sponsors are vetted and approved.</a:t>
            </a:r>
          </a:p>
          <a:p>
            <a:endParaRPr lang="en-US" dirty="0"/>
          </a:p>
        </p:txBody>
      </p:sp>
      <p:sp>
        <p:nvSpPr>
          <p:cNvPr id="7" name="TextBox 6"/>
          <p:cNvSpPr txBox="1"/>
          <p:nvPr/>
        </p:nvSpPr>
        <p:spPr>
          <a:xfrm>
            <a:off x="6492240" y="1828800"/>
            <a:ext cx="4663440" cy="369332"/>
          </a:xfrm>
          <a:prstGeom prst="rect">
            <a:avLst/>
          </a:prstGeom>
          <a:noFill/>
        </p:spPr>
        <p:txBody>
          <a:bodyPr wrap="square">
            <a:spAutoFit/>
          </a:bodyPr>
          <a:lstStyle/>
          <a:p>
            <a:pPr>
              <a:defRPr sz="1800" b="1">
                <a:solidFill>
                  <a:srgbClr val="1A365D"/>
                </a:solidFill>
              </a:defRPr>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91B5B64-B942-7085-744B-03BD6131BF1A}"/>
              </a:ext>
            </a:extLst>
          </p:cNvPr>
          <p:cNvSpPr txBox="1"/>
          <p:nvPr/>
        </p:nvSpPr>
        <p:spPr>
          <a:xfrm>
            <a:off x="218209" y="238992"/>
            <a:ext cx="11814464" cy="3139321"/>
          </a:xfrm>
          <a:prstGeom prst="rect">
            <a:avLst/>
          </a:prstGeom>
          <a:noFill/>
        </p:spPr>
        <p:txBody>
          <a:bodyPr wrap="square">
            <a:spAutoFit/>
          </a:bodyPr>
          <a:lstStyle/>
          <a:p>
            <a:pPr>
              <a:buNone/>
            </a:pPr>
            <a:r>
              <a:rPr lang="en-US" b="1" dirty="0"/>
              <a:t>Problem Statement</a:t>
            </a:r>
          </a:p>
          <a:p>
            <a:pPr>
              <a:buNone/>
            </a:pPr>
            <a:r>
              <a:rPr lang="en-US" dirty="0"/>
              <a:t>While daily operational records are gathered across agencies, the lack of a unified analytical framework makes tracking system-wide load difficult. Without continuous monitoring of inflow-outflow balance and capacity stress:</a:t>
            </a:r>
          </a:p>
          <a:p>
            <a:pPr marL="342900" lvl="0" indent="-342900">
              <a:buFont typeface="Arial" panose="020B0604020202020204" pitchFamily="34" charset="0"/>
              <a:buChar char="•"/>
            </a:pPr>
            <a:r>
              <a:rPr lang="en-US" dirty="0"/>
              <a:t>Decision-making remains </a:t>
            </a:r>
            <a:r>
              <a:rPr lang="en-US" b="1" dirty="0"/>
              <a:t>reactive</a:t>
            </a:r>
            <a:r>
              <a:rPr lang="en-US" dirty="0"/>
              <a:t> rather than proactive.</a:t>
            </a:r>
          </a:p>
          <a:p>
            <a:pPr marL="342900" lvl="0" indent="-342900">
              <a:buFont typeface="Arial" panose="020B0604020202020204" pitchFamily="34" charset="0"/>
              <a:buChar char="•"/>
            </a:pPr>
            <a:r>
              <a:rPr lang="en-US" dirty="0"/>
              <a:t>Sudden border influxes lead to facility overcrowding and care delays.</a:t>
            </a:r>
          </a:p>
          <a:p>
            <a:pPr marL="342900" lvl="0" indent="-342900">
              <a:buFont typeface="Arial" panose="020B0604020202020204" pitchFamily="34" charset="0"/>
              <a:buChar char="•"/>
            </a:pPr>
            <a:r>
              <a:rPr lang="en-US" dirty="0"/>
              <a:t>Staffing and shelter allocation become inefficient.</a:t>
            </a:r>
          </a:p>
          <a:p>
            <a:pPr>
              <a:buNone/>
            </a:pPr>
            <a:r>
              <a:rPr lang="en-US" b="1" dirty="0"/>
              <a:t>Key Objectives</a:t>
            </a:r>
          </a:p>
          <a:p>
            <a:pPr marL="342900" lvl="0" indent="-342900">
              <a:buFont typeface="Arial" panose="020B0604020202020204" pitchFamily="34" charset="0"/>
              <a:buChar char="•"/>
            </a:pPr>
            <a:r>
              <a:rPr lang="en-US" b="1" dirty="0"/>
              <a:t>Quantify System Load:</a:t>
            </a:r>
            <a:r>
              <a:rPr lang="en-US" dirty="0"/>
              <a:t> Calculate active and cumulative care responsibilities across both CBP and HHS.</a:t>
            </a:r>
          </a:p>
          <a:p>
            <a:pPr marL="342900" lvl="0" indent="-342900">
              <a:buFont typeface="Arial" panose="020B0604020202020204" pitchFamily="34" charset="0"/>
              <a:buChar char="•"/>
            </a:pPr>
            <a:r>
              <a:rPr lang="en-US" b="1" dirty="0"/>
              <a:t>Monitor Inflow vs. Outflow:</a:t>
            </a:r>
            <a:r>
              <a:rPr lang="en-US" dirty="0"/>
              <a:t> Evaluate daily net intake and identify backlog accumulation over time.</a:t>
            </a:r>
          </a:p>
          <a:p>
            <a:pPr marL="342900" lvl="0" indent="-342900">
              <a:buFont typeface="Arial" panose="020B0604020202020204" pitchFamily="34" charset="0"/>
              <a:buChar char="•"/>
            </a:pPr>
            <a:r>
              <a:rPr lang="en-US" b="1" dirty="0"/>
              <a:t>Identify Capacity Strain:</a:t>
            </a:r>
            <a:r>
              <a:rPr lang="en-US" dirty="0"/>
              <a:t> Use rolling metrics and volatility indices to detect prolonged stress windows.</a:t>
            </a:r>
          </a:p>
          <a:p>
            <a:pPr marL="342900" lvl="0" indent="-342900">
              <a:buFont typeface="Arial" panose="020B0604020202020204" pitchFamily="34" charset="0"/>
              <a:buChar char="•"/>
            </a:pPr>
            <a:r>
              <a:rPr lang="en-US" b="1" dirty="0"/>
              <a:t>Empower Stakeholders:</a:t>
            </a:r>
            <a:r>
              <a:rPr lang="en-US" dirty="0"/>
              <a:t> Deliver an interactive dashboard for real-time situational awareness and policy planning.</a:t>
            </a:r>
          </a:p>
        </p:txBody>
      </p:sp>
    </p:spTree>
    <p:extLst>
      <p:ext uri="{BB962C8B-B14F-4D97-AF65-F5344CB8AC3E}">
        <p14:creationId xmlns:p14="http://schemas.microsoft.com/office/powerpoint/2010/main" val="5492144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365760"/>
          </a:xfrm>
          <a:prstGeom prst="rect">
            <a:avLst/>
          </a:prstGeom>
          <a:noFill/>
        </p:spPr>
        <p:txBody>
          <a:bodyPr wrap="none">
            <a:spAutoFit/>
          </a:bodyPr>
          <a:lstStyle/>
          <a:p>
            <a:pPr>
              <a:defRPr sz="1000" b="1">
                <a:solidFill>
                  <a:srgbClr val="3182CE"/>
                </a:solidFill>
              </a:defRPr>
            </a:pPr>
            <a:r>
              <a:t>RESEARCH PAPER PRESENTATION</a:t>
            </a:r>
          </a:p>
        </p:txBody>
      </p:sp>
      <p:sp>
        <p:nvSpPr>
          <p:cNvPr id="3" name="TextBox 2"/>
          <p:cNvSpPr txBox="1"/>
          <p:nvPr/>
        </p:nvSpPr>
        <p:spPr>
          <a:xfrm>
            <a:off x="586047" y="644236"/>
            <a:ext cx="4060920" cy="892552"/>
          </a:xfrm>
          <a:prstGeom prst="rect">
            <a:avLst/>
          </a:prstGeom>
          <a:noFill/>
        </p:spPr>
        <p:txBody>
          <a:bodyPr wrap="none">
            <a:spAutoFit/>
          </a:bodyPr>
          <a:lstStyle/>
          <a:p>
            <a:pPr>
              <a:defRPr sz="2600" b="1">
                <a:solidFill>
                  <a:srgbClr val="1A365D"/>
                </a:solidFill>
              </a:defRPr>
            </a:pPr>
            <a:r>
              <a:rPr lang="en-US" sz="2600" b="1" dirty="0"/>
              <a:t>Key Performance Indicators </a:t>
            </a:r>
          </a:p>
          <a:p>
            <a:pPr>
              <a:defRPr sz="2600" b="1">
                <a:solidFill>
                  <a:srgbClr val="1A365D"/>
                </a:solidFill>
              </a:defRPr>
            </a:pPr>
            <a:endParaRPr dirty="0"/>
          </a:p>
        </p:txBody>
      </p:sp>
      <p:sp>
        <p:nvSpPr>
          <p:cNvPr id="4" name="Rounded Rectangle 3"/>
          <p:cNvSpPr/>
          <p:nvPr/>
        </p:nvSpPr>
        <p:spPr>
          <a:xfrm>
            <a:off x="731520" y="1645920"/>
            <a:ext cx="3383280" cy="2103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389120" y="1645920"/>
            <a:ext cx="3383280" cy="2103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046720" y="1645920"/>
            <a:ext cx="3383280" cy="2103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238202" y="4023360"/>
            <a:ext cx="3383280" cy="2103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5906193" y="4023360"/>
            <a:ext cx="3383280" cy="2103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a:extLst>
              <a:ext uri="{FF2B5EF4-FFF2-40B4-BE49-F238E27FC236}">
                <a16:creationId xmlns:a16="http://schemas.microsoft.com/office/drawing/2014/main" id="{429A9206-2409-544A-23C1-233711F72F7C}"/>
              </a:ext>
            </a:extLst>
          </p:cNvPr>
          <p:cNvPicPr>
            <a:picLocks noChangeAspect="1"/>
          </p:cNvPicPr>
          <p:nvPr/>
        </p:nvPicPr>
        <p:blipFill>
          <a:blip r:embed="rId2"/>
          <a:stretch>
            <a:fillRect/>
          </a:stretch>
        </p:blipFill>
        <p:spPr>
          <a:xfrm>
            <a:off x="924720" y="1821499"/>
            <a:ext cx="3059140" cy="1529569"/>
          </a:xfrm>
          <a:prstGeom prst="rect">
            <a:avLst/>
          </a:prstGeom>
        </p:spPr>
      </p:pic>
      <p:pic>
        <p:nvPicPr>
          <p:cNvPr id="10" name="Picture 9">
            <a:extLst>
              <a:ext uri="{FF2B5EF4-FFF2-40B4-BE49-F238E27FC236}">
                <a16:creationId xmlns:a16="http://schemas.microsoft.com/office/drawing/2014/main" id="{3E4316D5-ABFC-7B5A-9430-5EDB99669BD0}"/>
              </a:ext>
            </a:extLst>
          </p:cNvPr>
          <p:cNvPicPr>
            <a:picLocks noChangeAspect="1"/>
          </p:cNvPicPr>
          <p:nvPr/>
        </p:nvPicPr>
        <p:blipFill>
          <a:blip r:embed="rId3"/>
          <a:stretch>
            <a:fillRect/>
          </a:stretch>
        </p:blipFill>
        <p:spPr>
          <a:xfrm>
            <a:off x="4570796" y="1857866"/>
            <a:ext cx="2903791" cy="1571133"/>
          </a:xfrm>
          <a:prstGeom prst="rect">
            <a:avLst/>
          </a:prstGeom>
        </p:spPr>
      </p:pic>
      <p:pic>
        <p:nvPicPr>
          <p:cNvPr id="13" name="Picture 12">
            <a:extLst>
              <a:ext uri="{FF2B5EF4-FFF2-40B4-BE49-F238E27FC236}">
                <a16:creationId xmlns:a16="http://schemas.microsoft.com/office/drawing/2014/main" id="{8B5549FA-B564-3D98-5748-CBBE142C9FFE}"/>
              </a:ext>
            </a:extLst>
          </p:cNvPr>
          <p:cNvPicPr>
            <a:picLocks noChangeAspect="1"/>
          </p:cNvPicPr>
          <p:nvPr/>
        </p:nvPicPr>
        <p:blipFill>
          <a:blip r:embed="rId4"/>
          <a:stretch>
            <a:fillRect/>
          </a:stretch>
        </p:blipFill>
        <p:spPr>
          <a:xfrm>
            <a:off x="8210330" y="1892167"/>
            <a:ext cx="3056059" cy="1610625"/>
          </a:xfrm>
          <a:prstGeom prst="rect">
            <a:avLst/>
          </a:prstGeom>
        </p:spPr>
      </p:pic>
      <p:pic>
        <p:nvPicPr>
          <p:cNvPr id="16" name="Picture 15">
            <a:extLst>
              <a:ext uri="{FF2B5EF4-FFF2-40B4-BE49-F238E27FC236}">
                <a16:creationId xmlns:a16="http://schemas.microsoft.com/office/drawing/2014/main" id="{AC3333D3-A80F-08E9-0C0D-28FA8F76EE34}"/>
              </a:ext>
            </a:extLst>
          </p:cNvPr>
          <p:cNvPicPr>
            <a:picLocks noChangeAspect="1"/>
          </p:cNvPicPr>
          <p:nvPr/>
        </p:nvPicPr>
        <p:blipFill>
          <a:blip r:embed="rId5"/>
          <a:stretch>
            <a:fillRect/>
          </a:stretch>
        </p:blipFill>
        <p:spPr>
          <a:xfrm>
            <a:off x="2658071" y="4263784"/>
            <a:ext cx="2628899" cy="1651787"/>
          </a:xfrm>
          <a:prstGeom prst="rect">
            <a:avLst/>
          </a:prstGeom>
        </p:spPr>
      </p:pic>
      <p:pic>
        <p:nvPicPr>
          <p:cNvPr id="20" name="Picture 19">
            <a:extLst>
              <a:ext uri="{FF2B5EF4-FFF2-40B4-BE49-F238E27FC236}">
                <a16:creationId xmlns:a16="http://schemas.microsoft.com/office/drawing/2014/main" id="{716A6BF6-DC83-7EAC-0DF6-BE94A55C4707}"/>
              </a:ext>
            </a:extLst>
          </p:cNvPr>
          <p:cNvPicPr>
            <a:picLocks noChangeAspect="1"/>
          </p:cNvPicPr>
          <p:nvPr/>
        </p:nvPicPr>
        <p:blipFill>
          <a:blip r:embed="rId6"/>
          <a:stretch>
            <a:fillRect/>
          </a:stretch>
        </p:blipFill>
        <p:spPr>
          <a:xfrm>
            <a:off x="6231807" y="4225866"/>
            <a:ext cx="2977431" cy="151707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113CDC9-722B-303D-BB91-6374528E6EF7}"/>
              </a:ext>
            </a:extLst>
          </p:cNvPr>
          <p:cNvSpPr txBox="1"/>
          <p:nvPr/>
        </p:nvSpPr>
        <p:spPr>
          <a:xfrm>
            <a:off x="355889" y="78701"/>
            <a:ext cx="6491720" cy="584775"/>
          </a:xfrm>
          <a:prstGeom prst="rect">
            <a:avLst/>
          </a:prstGeom>
          <a:noFill/>
        </p:spPr>
        <p:txBody>
          <a:bodyPr wrap="square">
            <a:spAutoFit/>
          </a:bodyPr>
          <a:lstStyle/>
          <a:p>
            <a:r>
              <a:rPr lang="en-US" sz="3200" b="1" dirty="0"/>
              <a:t>Key Performance Indicators (KPIs)</a:t>
            </a:r>
            <a:r>
              <a:rPr lang="en-US" sz="3200" dirty="0"/>
              <a:t> </a:t>
            </a:r>
          </a:p>
        </p:txBody>
      </p:sp>
      <p:sp>
        <p:nvSpPr>
          <p:cNvPr id="5" name="TextBox 4">
            <a:extLst>
              <a:ext uri="{FF2B5EF4-FFF2-40B4-BE49-F238E27FC236}">
                <a16:creationId xmlns:a16="http://schemas.microsoft.com/office/drawing/2014/main" id="{E6D598B2-8822-FA22-D55B-8A1D9B39978D}"/>
              </a:ext>
            </a:extLst>
          </p:cNvPr>
          <p:cNvSpPr txBox="1"/>
          <p:nvPr/>
        </p:nvSpPr>
        <p:spPr>
          <a:xfrm>
            <a:off x="231197" y="946526"/>
            <a:ext cx="11604047" cy="4524315"/>
          </a:xfrm>
          <a:prstGeom prst="rect">
            <a:avLst/>
          </a:prstGeom>
          <a:noFill/>
        </p:spPr>
        <p:txBody>
          <a:bodyPr wrap="square">
            <a:spAutoFit/>
          </a:bodyPr>
          <a:lstStyle/>
          <a:p>
            <a:pPr lvl="0"/>
            <a:r>
              <a:rPr lang="en-US" b="1" dirty="0"/>
              <a:t>Total Children Under Care</a:t>
            </a:r>
            <a:endParaRPr lang="en-US" dirty="0"/>
          </a:p>
          <a:p>
            <a:pPr lvl="1"/>
            <a:r>
              <a:rPr lang="en-US" b="1" dirty="0"/>
              <a:t>Short Description:</a:t>
            </a:r>
            <a:r>
              <a:rPr lang="en-US" dirty="0"/>
              <a:t> Measures the active, system-wide volume of children currently in federal responsibility (combining CBP custody and HHS shelter care) at any given point in time.</a:t>
            </a:r>
          </a:p>
          <a:p>
            <a:pPr lvl="0"/>
            <a:r>
              <a:rPr lang="en-US" b="1" dirty="0"/>
              <a:t>Net Intake Pressure</a:t>
            </a:r>
            <a:endParaRPr lang="en-US" dirty="0"/>
          </a:p>
          <a:p>
            <a:pPr lvl="1"/>
            <a:r>
              <a:rPr lang="en-US" b="1" dirty="0"/>
              <a:t>Short Description:</a:t>
            </a:r>
            <a:r>
              <a:rPr lang="en-US" dirty="0"/>
              <a:t> Tracks the real-time daily imbalance between children entering HHS care (transfers from CBP) versus those leaving (discharges to sponsors), indicating whether the system is expanding or contracting.</a:t>
            </a:r>
          </a:p>
          <a:p>
            <a:pPr lvl="0"/>
            <a:r>
              <a:rPr lang="en-US" b="1" dirty="0"/>
              <a:t>Care Load Volatility Index</a:t>
            </a:r>
            <a:endParaRPr lang="en-US" dirty="0"/>
          </a:p>
          <a:p>
            <a:pPr lvl="1"/>
            <a:r>
              <a:rPr lang="en-US" b="1" dirty="0"/>
              <a:t>Short Description:</a:t>
            </a:r>
            <a:r>
              <a:rPr lang="en-US" dirty="0"/>
              <a:t> Measures short-term fluctuations and variance in total care load (typically via a 7-day standard deviation) to assess operational stability and predict sudden surges.</a:t>
            </a:r>
          </a:p>
          <a:p>
            <a:pPr lvl="0"/>
            <a:r>
              <a:rPr lang="en-US" b="1" dirty="0"/>
              <a:t>Backlog Accumulation Rate</a:t>
            </a:r>
            <a:endParaRPr lang="en-US" dirty="0"/>
          </a:p>
          <a:p>
            <a:pPr lvl="1"/>
            <a:r>
              <a:rPr lang="en-US" b="1" dirty="0"/>
              <a:t>Short Description:</a:t>
            </a:r>
            <a:r>
              <a:rPr lang="en-US" dirty="0"/>
              <a:t> Quantifies sustained intake pressure over time by tracking the cumulative growth of un-discharged children, highlighting growing delays in reunification.</a:t>
            </a:r>
          </a:p>
          <a:p>
            <a:pPr lvl="0"/>
            <a:r>
              <a:rPr lang="en-US" b="1" dirty="0"/>
              <a:t>Discharge Offset Ratio</a:t>
            </a:r>
            <a:endParaRPr lang="en-US" dirty="0"/>
          </a:p>
          <a:p>
            <a:pPr lvl="1"/>
            <a:r>
              <a:rPr lang="en-US" b="1" dirty="0"/>
              <a:t>Short Description:</a:t>
            </a:r>
            <a:r>
              <a:rPr lang="en-US" dirty="0"/>
              <a:t> Evaluates the system's operational efficiency by comparing total discharges to total intakes over a period (e.g., 30 days) to measure its capacity to clear cases and relieve load.</a:t>
            </a:r>
          </a:p>
          <a:p>
            <a:pPr>
              <a:buNone/>
            </a:pPr>
            <a:endParaRPr lang="en-US" dirty="0">
              <a:effectLst/>
              <a:latin typeface="Google Sans Text"/>
            </a:endParaRPr>
          </a:p>
        </p:txBody>
      </p:sp>
    </p:spTree>
    <p:extLst>
      <p:ext uri="{BB962C8B-B14F-4D97-AF65-F5344CB8AC3E}">
        <p14:creationId xmlns:p14="http://schemas.microsoft.com/office/powerpoint/2010/main" val="30643969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98B0373-0298-F55F-EA35-37BF5FF465CD}"/>
              </a:ext>
            </a:extLst>
          </p:cNvPr>
          <p:cNvSpPr txBox="1"/>
          <p:nvPr/>
        </p:nvSpPr>
        <p:spPr>
          <a:xfrm>
            <a:off x="40698" y="0"/>
            <a:ext cx="11960802" cy="1200329"/>
          </a:xfrm>
          <a:prstGeom prst="rect">
            <a:avLst/>
          </a:prstGeom>
          <a:noFill/>
        </p:spPr>
        <p:txBody>
          <a:bodyPr wrap="square">
            <a:spAutoFit/>
          </a:bodyPr>
          <a:lstStyle/>
          <a:p>
            <a:pPr>
              <a:buNone/>
            </a:pPr>
            <a:r>
              <a:rPr lang="en-US" b="1" dirty="0"/>
              <a:t>Problem Statement</a:t>
            </a:r>
          </a:p>
          <a:p>
            <a:pPr>
              <a:buNone/>
            </a:pPr>
            <a:r>
              <a:rPr lang="en-US" dirty="0"/>
              <a:t>Although daily operational data is collected across agencies, the Department of Health and Human Services (HHS) currently lacks a centralized analytical framework to continuously assess system health and operational capacity. Without real-time, consolidated metrics, key decision-makers face significant operational blind spots in the following areas:</a:t>
            </a:r>
          </a:p>
        </p:txBody>
      </p:sp>
      <p:sp>
        <p:nvSpPr>
          <p:cNvPr id="7" name="TextBox 6">
            <a:extLst>
              <a:ext uri="{FF2B5EF4-FFF2-40B4-BE49-F238E27FC236}">
                <a16:creationId xmlns:a16="http://schemas.microsoft.com/office/drawing/2014/main" id="{783F9F8E-3DFD-C501-917F-411948D4CEBF}"/>
              </a:ext>
            </a:extLst>
          </p:cNvPr>
          <p:cNvSpPr txBox="1"/>
          <p:nvPr/>
        </p:nvSpPr>
        <p:spPr>
          <a:xfrm>
            <a:off x="71439" y="1386414"/>
            <a:ext cx="6099462" cy="2308324"/>
          </a:xfrm>
          <a:prstGeom prst="rect">
            <a:avLst/>
          </a:prstGeom>
          <a:noFill/>
        </p:spPr>
        <p:txBody>
          <a:bodyPr wrap="square">
            <a:spAutoFit/>
          </a:bodyPr>
          <a:lstStyle/>
          <a:p>
            <a:pPr>
              <a:buNone/>
            </a:pPr>
            <a:r>
              <a:rPr lang="en-US" b="1" dirty="0"/>
              <a:t>1. Total Care System Load</a:t>
            </a:r>
          </a:p>
          <a:p>
            <a:pPr marL="342900" lvl="0" indent="-342900">
              <a:buFont typeface="Arial" panose="020B0604020202020204" pitchFamily="34" charset="0"/>
              <a:buChar char="•"/>
            </a:pPr>
            <a:r>
              <a:rPr lang="en-US" b="1" dirty="0"/>
              <a:t>The Issue:</a:t>
            </a:r>
            <a:r>
              <a:rPr lang="en-US" dirty="0"/>
              <a:t> Data is often fragmented across immediate law enforcement custody (CBP) and longer-term shelter infrastructure (HHS).</a:t>
            </a:r>
          </a:p>
          <a:p>
            <a:pPr marL="342900" lvl="0" indent="-342900">
              <a:buFont typeface="Arial" panose="020B0604020202020204" pitchFamily="34" charset="0"/>
              <a:buChar char="•"/>
            </a:pPr>
            <a:r>
              <a:rPr lang="en-US" b="1" dirty="0"/>
              <a:t>Impact:</a:t>
            </a:r>
            <a:r>
              <a:rPr lang="en-US" dirty="0"/>
              <a:t> Lacking a unified view of the </a:t>
            </a:r>
            <a:r>
              <a:rPr lang="en-US" i="1" dirty="0"/>
              <a:t>Total System Load</a:t>
            </a:r>
            <a:r>
              <a:rPr lang="en-US" dirty="0"/>
              <a:t> makes it difficult to understand the overall federal responsibility at any given moment, leading to misaligned resource and shelter allocations.</a:t>
            </a:r>
          </a:p>
        </p:txBody>
      </p:sp>
      <p:sp>
        <p:nvSpPr>
          <p:cNvPr id="9" name="TextBox 8">
            <a:extLst>
              <a:ext uri="{FF2B5EF4-FFF2-40B4-BE49-F238E27FC236}">
                <a16:creationId xmlns:a16="http://schemas.microsoft.com/office/drawing/2014/main" id="{4531E838-F89B-B88F-334C-A61C92973868}"/>
              </a:ext>
            </a:extLst>
          </p:cNvPr>
          <p:cNvSpPr txBox="1"/>
          <p:nvPr/>
        </p:nvSpPr>
        <p:spPr>
          <a:xfrm>
            <a:off x="6021099" y="1386414"/>
            <a:ext cx="6099462" cy="2308324"/>
          </a:xfrm>
          <a:prstGeom prst="rect">
            <a:avLst/>
          </a:prstGeom>
          <a:noFill/>
        </p:spPr>
        <p:txBody>
          <a:bodyPr wrap="square">
            <a:spAutoFit/>
          </a:bodyPr>
          <a:lstStyle/>
          <a:p>
            <a:pPr>
              <a:buNone/>
            </a:pPr>
            <a:r>
              <a:rPr lang="en-US" b="1" dirty="0"/>
              <a:t>2. Balance Between Inflow and Outflow</a:t>
            </a:r>
          </a:p>
          <a:p>
            <a:pPr marL="342900" lvl="0" indent="-342900">
              <a:buFont typeface="Arial" panose="020B0604020202020204" pitchFamily="34" charset="0"/>
              <a:buChar char="•"/>
            </a:pPr>
            <a:r>
              <a:rPr lang="en-US" b="1" dirty="0"/>
              <a:t>The Issue:</a:t>
            </a:r>
            <a:r>
              <a:rPr lang="en-US" dirty="0"/>
              <a:t> Daily intake into the care pipeline (transfers into HHS) and outflow (discharges to vetted sponsors) fluctuate independently.</a:t>
            </a:r>
          </a:p>
          <a:p>
            <a:pPr marL="342900" lvl="0" indent="-342900">
              <a:buFont typeface="Arial" panose="020B0604020202020204" pitchFamily="34" charset="0"/>
              <a:buChar char="•"/>
            </a:pPr>
            <a:r>
              <a:rPr lang="en-US" b="1" dirty="0"/>
              <a:t>Impact:</a:t>
            </a:r>
            <a:r>
              <a:rPr lang="en-US" dirty="0"/>
              <a:t> Without tracking </a:t>
            </a:r>
            <a:r>
              <a:rPr lang="en-US" i="1" dirty="0"/>
              <a:t>Net Intake Pressure</a:t>
            </a:r>
            <a:r>
              <a:rPr lang="en-US" dirty="0"/>
              <a:t>, sudden surges in border apprehensions can quietly accumulate into massive backlogs before HHS operational teams can respond.</a:t>
            </a:r>
          </a:p>
        </p:txBody>
      </p:sp>
      <p:sp>
        <p:nvSpPr>
          <p:cNvPr id="11" name="TextBox 10">
            <a:extLst>
              <a:ext uri="{FF2B5EF4-FFF2-40B4-BE49-F238E27FC236}">
                <a16:creationId xmlns:a16="http://schemas.microsoft.com/office/drawing/2014/main" id="{0AC7D43F-7E7C-A5EA-CC19-9DEEE95B5765}"/>
              </a:ext>
            </a:extLst>
          </p:cNvPr>
          <p:cNvSpPr txBox="1"/>
          <p:nvPr/>
        </p:nvSpPr>
        <p:spPr>
          <a:xfrm>
            <a:off x="71439" y="4153815"/>
            <a:ext cx="6099462" cy="2031325"/>
          </a:xfrm>
          <a:prstGeom prst="rect">
            <a:avLst/>
          </a:prstGeom>
          <a:noFill/>
        </p:spPr>
        <p:txBody>
          <a:bodyPr wrap="square">
            <a:spAutoFit/>
          </a:bodyPr>
          <a:lstStyle/>
          <a:p>
            <a:pPr>
              <a:buNone/>
            </a:pPr>
            <a:r>
              <a:rPr lang="en-US" b="1" dirty="0"/>
              <a:t>3. Capacity Stress and Relief Periods</a:t>
            </a:r>
          </a:p>
          <a:p>
            <a:pPr marL="342900" lvl="0" indent="-342900">
              <a:buFont typeface="Arial" panose="020B0604020202020204" pitchFamily="34" charset="0"/>
              <a:buChar char="•"/>
            </a:pPr>
            <a:r>
              <a:rPr lang="en-US" b="1" dirty="0"/>
              <a:t>The Issue:</a:t>
            </a:r>
            <a:r>
              <a:rPr lang="en-US" dirty="0"/>
              <a:t> Critical operational bottlenecks (e.g., medical evaluation backlogs, sponsor vetting delays) are hard to isolate using raw daily counts alone.</a:t>
            </a:r>
          </a:p>
          <a:p>
            <a:pPr marL="342900" lvl="0" indent="-342900">
              <a:buFont typeface="Arial" panose="020B0604020202020204" pitchFamily="34" charset="0"/>
              <a:buChar char="•"/>
            </a:pPr>
            <a:r>
              <a:rPr lang="en-US" b="1" dirty="0"/>
              <a:t>Impact:</a:t>
            </a:r>
            <a:r>
              <a:rPr lang="en-US" dirty="0"/>
              <a:t> Lacking rolling metrics and volatility tracking leaves administration reactive during peak strain windows, increasing risks of facility overcrowding and care delays.</a:t>
            </a:r>
          </a:p>
        </p:txBody>
      </p:sp>
      <p:sp>
        <p:nvSpPr>
          <p:cNvPr id="13" name="TextBox 12">
            <a:extLst>
              <a:ext uri="{FF2B5EF4-FFF2-40B4-BE49-F238E27FC236}">
                <a16:creationId xmlns:a16="http://schemas.microsoft.com/office/drawing/2014/main" id="{D9945CCE-57DC-5681-48D7-5B5FE2CA3A02}"/>
              </a:ext>
            </a:extLst>
          </p:cNvPr>
          <p:cNvSpPr txBox="1"/>
          <p:nvPr/>
        </p:nvSpPr>
        <p:spPr>
          <a:xfrm>
            <a:off x="5922386" y="3880823"/>
            <a:ext cx="6099462" cy="2308324"/>
          </a:xfrm>
          <a:prstGeom prst="rect">
            <a:avLst/>
          </a:prstGeom>
          <a:noFill/>
        </p:spPr>
        <p:txBody>
          <a:bodyPr wrap="square">
            <a:spAutoFit/>
          </a:bodyPr>
          <a:lstStyle/>
          <a:p>
            <a:pPr>
              <a:buNone/>
            </a:pPr>
            <a:r>
              <a:rPr lang="en-US" b="1" dirty="0"/>
              <a:t>4. Sustainability of Care Delivery Over Time</a:t>
            </a:r>
          </a:p>
          <a:p>
            <a:pPr marL="342900" lvl="0" indent="-342900">
              <a:buFont typeface="Arial" panose="020B0604020202020204" pitchFamily="34" charset="0"/>
              <a:buChar char="•"/>
            </a:pPr>
            <a:r>
              <a:rPr lang="en-US" b="1" dirty="0"/>
              <a:t>The Issue:</a:t>
            </a:r>
            <a:r>
              <a:rPr lang="en-US" dirty="0"/>
              <a:t> Operational planning requires understanding long-term seasonal patterns, year-over-year trends, and discharge efficiency ratios.</a:t>
            </a:r>
          </a:p>
          <a:p>
            <a:pPr marL="342900" lvl="0" indent="-342900">
              <a:buFont typeface="Arial" panose="020B0604020202020204" pitchFamily="34" charset="0"/>
              <a:buChar char="•"/>
            </a:pPr>
            <a:r>
              <a:rPr lang="en-US" b="1" dirty="0"/>
              <a:t>Impact:</a:t>
            </a:r>
            <a:r>
              <a:rPr lang="en-US" dirty="0"/>
              <a:t> Without longitudinal trend analysis, leadership cannot reliably forecast future capacity requirements, evaluate policy intervention effectiveness, or ensure consistent standards of child welfare delivery over time.</a:t>
            </a:r>
          </a:p>
        </p:txBody>
      </p:sp>
    </p:spTree>
    <p:extLst>
      <p:ext uri="{BB962C8B-B14F-4D97-AF65-F5344CB8AC3E}">
        <p14:creationId xmlns:p14="http://schemas.microsoft.com/office/powerpoint/2010/main" val="25158968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365760"/>
          </a:xfrm>
          <a:prstGeom prst="rect">
            <a:avLst/>
          </a:prstGeom>
          <a:noFill/>
        </p:spPr>
        <p:txBody>
          <a:bodyPr wrap="none">
            <a:spAutoFit/>
          </a:bodyPr>
          <a:lstStyle/>
          <a:p>
            <a:pPr>
              <a:defRPr sz="1000" b="1">
                <a:solidFill>
                  <a:srgbClr val="3182CE"/>
                </a:solidFill>
              </a:defRPr>
            </a:pPr>
            <a:r>
              <a:t>RESEARCH PAPER PRESENTATION</a:t>
            </a:r>
          </a:p>
        </p:txBody>
      </p:sp>
      <p:sp>
        <p:nvSpPr>
          <p:cNvPr id="3" name="TextBox 2"/>
          <p:cNvSpPr txBox="1"/>
          <p:nvPr/>
        </p:nvSpPr>
        <p:spPr>
          <a:xfrm>
            <a:off x="648393" y="640080"/>
            <a:ext cx="6466578" cy="1138773"/>
          </a:xfrm>
          <a:prstGeom prst="rect">
            <a:avLst/>
          </a:prstGeom>
          <a:noFill/>
        </p:spPr>
        <p:txBody>
          <a:bodyPr wrap="none">
            <a:spAutoFit/>
          </a:bodyPr>
          <a:lstStyle/>
          <a:p>
            <a:pPr>
              <a:defRPr sz="2800" b="1">
                <a:solidFill>
                  <a:srgbClr val="102C57"/>
                </a:solidFill>
              </a:defRPr>
            </a:pPr>
            <a:r>
              <a:rPr lang="en-US" dirty="0"/>
              <a:t> Engagement Classification &amp; Risk Analysis</a:t>
            </a:r>
          </a:p>
          <a:p>
            <a:pPr>
              <a:defRPr sz="1400">
                <a:solidFill>
                  <a:srgbClr val="646464"/>
                </a:solidFill>
              </a:defRPr>
            </a:pPr>
            <a:r>
              <a:rPr lang="en-US" dirty="0"/>
              <a:t>  Breakdown of customer share and churn risk across engagement profiles</a:t>
            </a:r>
          </a:p>
          <a:p>
            <a:pPr>
              <a:defRPr sz="2600" b="1">
                <a:solidFill>
                  <a:srgbClr val="1A365D"/>
                </a:solidFill>
              </a:defRPr>
            </a:pPr>
            <a:endParaRPr dirty="0"/>
          </a:p>
        </p:txBody>
      </p:sp>
      <p:pic>
        <p:nvPicPr>
          <p:cNvPr id="5" name="Picture 4">
            <a:extLst>
              <a:ext uri="{FF2B5EF4-FFF2-40B4-BE49-F238E27FC236}">
                <a16:creationId xmlns:a16="http://schemas.microsoft.com/office/drawing/2014/main" id="{87B39AE7-752A-F2D5-5178-7D654AF2BA88}"/>
              </a:ext>
            </a:extLst>
          </p:cNvPr>
          <p:cNvPicPr>
            <a:picLocks noChangeAspect="1"/>
          </p:cNvPicPr>
          <p:nvPr/>
        </p:nvPicPr>
        <p:blipFill>
          <a:blip r:embed="rId2"/>
          <a:stretch>
            <a:fillRect/>
          </a:stretch>
        </p:blipFill>
        <p:spPr>
          <a:xfrm>
            <a:off x="772968" y="1611472"/>
            <a:ext cx="10646063" cy="473737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2B6BB86-421E-2C90-4117-690E736D6F22}"/>
              </a:ext>
            </a:extLst>
          </p:cNvPr>
          <p:cNvPicPr>
            <a:picLocks noChangeAspect="1"/>
          </p:cNvPicPr>
          <p:nvPr/>
        </p:nvPicPr>
        <p:blipFill>
          <a:blip r:embed="rId2"/>
          <a:stretch>
            <a:fillRect/>
          </a:stretch>
        </p:blipFill>
        <p:spPr>
          <a:xfrm>
            <a:off x="753917" y="613064"/>
            <a:ext cx="10684166" cy="4816359"/>
          </a:xfrm>
          <a:prstGeom prst="rect">
            <a:avLst/>
          </a:prstGeom>
        </p:spPr>
      </p:pic>
    </p:spTree>
    <p:extLst>
      <p:ext uri="{BB962C8B-B14F-4D97-AF65-F5344CB8AC3E}">
        <p14:creationId xmlns:p14="http://schemas.microsoft.com/office/powerpoint/2010/main" val="15453250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83FC64-BA0A-EACF-81A9-50E774DF176E}"/>
              </a:ext>
            </a:extLst>
          </p:cNvPr>
          <p:cNvPicPr>
            <a:picLocks noChangeAspect="1"/>
          </p:cNvPicPr>
          <p:nvPr/>
        </p:nvPicPr>
        <p:blipFill>
          <a:blip r:embed="rId2"/>
          <a:stretch>
            <a:fillRect/>
          </a:stretch>
        </p:blipFill>
        <p:spPr>
          <a:xfrm>
            <a:off x="795830" y="1535266"/>
            <a:ext cx="10600339" cy="3787468"/>
          </a:xfrm>
          <a:prstGeom prst="rect">
            <a:avLst/>
          </a:prstGeom>
        </p:spPr>
      </p:pic>
    </p:spTree>
    <p:extLst>
      <p:ext uri="{BB962C8B-B14F-4D97-AF65-F5344CB8AC3E}">
        <p14:creationId xmlns:p14="http://schemas.microsoft.com/office/powerpoint/2010/main" val="9872120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365760"/>
          </a:xfrm>
          <a:prstGeom prst="rect">
            <a:avLst/>
          </a:prstGeom>
          <a:noFill/>
        </p:spPr>
        <p:txBody>
          <a:bodyPr wrap="none">
            <a:spAutoFit/>
          </a:bodyPr>
          <a:lstStyle/>
          <a:p>
            <a:pPr>
              <a:defRPr sz="1000" b="1">
                <a:solidFill>
                  <a:srgbClr val="3182CE"/>
                </a:solidFill>
              </a:defRPr>
            </a:pPr>
            <a:r>
              <a:t>RESEARCH PAPER PRESENTATION</a:t>
            </a:r>
          </a:p>
        </p:txBody>
      </p:sp>
      <p:sp>
        <p:nvSpPr>
          <p:cNvPr id="3" name="TextBox 2"/>
          <p:cNvSpPr txBox="1"/>
          <p:nvPr/>
        </p:nvSpPr>
        <p:spPr>
          <a:xfrm>
            <a:off x="731520" y="640080"/>
            <a:ext cx="6676123" cy="492443"/>
          </a:xfrm>
          <a:prstGeom prst="rect">
            <a:avLst/>
          </a:prstGeom>
          <a:noFill/>
        </p:spPr>
        <p:txBody>
          <a:bodyPr wrap="none">
            <a:spAutoFit/>
          </a:bodyPr>
          <a:lstStyle/>
          <a:p>
            <a:pPr>
              <a:defRPr sz="2600" b="1">
                <a:solidFill>
                  <a:srgbClr val="1A365D"/>
                </a:solidFill>
              </a:defRPr>
            </a:pPr>
            <a:r>
              <a:rPr lang="en-US" sz="2600" b="1" dirty="0"/>
              <a:t>Exploratory Data Analysis (EDA) &amp; Key Findings</a:t>
            </a:r>
            <a:endParaRPr dirty="0"/>
          </a:p>
        </p:txBody>
      </p:sp>
      <p:sp>
        <p:nvSpPr>
          <p:cNvPr id="5" name="TextBox 4"/>
          <p:cNvSpPr txBox="1"/>
          <p:nvPr/>
        </p:nvSpPr>
        <p:spPr>
          <a:xfrm>
            <a:off x="922713" y="1766455"/>
            <a:ext cx="9593427" cy="2862322"/>
          </a:xfrm>
          <a:prstGeom prst="rect">
            <a:avLst/>
          </a:prstGeom>
          <a:noFill/>
        </p:spPr>
        <p:txBody>
          <a:bodyPr wrap="square">
            <a:spAutoFit/>
          </a:bodyPr>
          <a:lstStyle/>
          <a:p>
            <a:r>
              <a:rPr lang="en-US" b="1" dirty="0"/>
              <a:t>System Load &amp; Temporal Patterns</a:t>
            </a:r>
          </a:p>
          <a:p>
            <a:pPr lvl="0"/>
            <a:r>
              <a:rPr lang="en-US" b="1" dirty="0"/>
              <a:t>Surge Inflow Dynamics:</a:t>
            </a:r>
            <a:r>
              <a:rPr lang="en-US" dirty="0"/>
              <a:t> Daily apprehensions by CBP exhibit non-uniform, clustered spikes rather than a steady baseline. Rapid increases in arrivals create immediate shockwaves in border custody facilities before downstream HHS shelter transfers can adjust.</a:t>
            </a:r>
          </a:p>
          <a:p>
            <a:pPr lvl="0"/>
            <a:r>
              <a:rPr lang="en-US" b="1" dirty="0"/>
              <a:t>System Duration Asymmetry:</a:t>
            </a:r>
            <a:r>
              <a:rPr lang="en-US" dirty="0"/>
              <a:t> Children remain in short-term CBP custody for days, whereas the average stay in HHS shelter care extends across weeks or months while sponsor vetting is conducted. Consequently, HHS shelters absorb </a:t>
            </a:r>
            <a:r>
              <a:rPr lang="en-US" b="1" dirty="0"/>
              <a:t>80%–90% of total active system load</a:t>
            </a:r>
            <a:r>
              <a:rPr lang="en-US" dirty="0"/>
              <a:t> at any given time.</a:t>
            </a:r>
          </a:p>
          <a:p>
            <a:pPr lvl="0"/>
            <a:r>
              <a:rPr lang="en-US" b="1" dirty="0"/>
              <a:t>Intake vs. Outflow Mismatch:</a:t>
            </a:r>
            <a:r>
              <a:rPr lang="en-US" dirty="0"/>
              <a:t> Periods where HHS transfers exceed sponsor releases trigger a compounded increase in the </a:t>
            </a:r>
            <a:r>
              <a:rPr lang="en-US" i="1" dirty="0"/>
              <a:t>Backlog Accumulation Rate</a:t>
            </a:r>
            <a:r>
              <a:rPr lang="en-US" dirty="0"/>
              <a:t>. When net intake remains positive over consecutive weeks, shelter capacity reaches critical stress thresholds.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E8F5B8A-64CC-41B3-2B50-86F9E41620D2}"/>
              </a:ext>
            </a:extLst>
          </p:cNvPr>
          <p:cNvSpPr txBox="1"/>
          <p:nvPr/>
        </p:nvSpPr>
        <p:spPr>
          <a:xfrm>
            <a:off x="189634" y="144840"/>
            <a:ext cx="6094268" cy="3139321"/>
          </a:xfrm>
          <a:prstGeom prst="rect">
            <a:avLst/>
          </a:prstGeom>
          <a:noFill/>
        </p:spPr>
        <p:txBody>
          <a:bodyPr wrap="square">
            <a:spAutoFit/>
          </a:bodyPr>
          <a:lstStyle/>
          <a:p>
            <a:pPr>
              <a:buNone/>
            </a:pPr>
            <a:r>
              <a:rPr lang="en-US" b="1" dirty="0">
                <a:effectLst/>
                <a:latin typeface="Google Sans"/>
              </a:rPr>
              <a:t>Volatility &amp; Stress Identification</a:t>
            </a:r>
          </a:p>
          <a:p>
            <a:pPr marL="342900" lvl="0" indent="-342900">
              <a:buFont typeface="Arial" panose="020B0604020202020204" pitchFamily="34" charset="0"/>
              <a:buChar char="•"/>
            </a:pPr>
            <a:r>
              <a:rPr lang="en-US" b="1" dirty="0">
                <a:effectLst/>
                <a:latin typeface="Google Sans Text"/>
              </a:rPr>
              <a:t>Care Load Volatility:</a:t>
            </a:r>
            <a:r>
              <a:rPr lang="en-US" dirty="0">
                <a:effectLst/>
                <a:latin typeface="Google Sans Text"/>
              </a:rPr>
              <a:t> Short-term fluctuations (evaluated via a 7-day rolling standard deviation) spike primarily during major seasonal or policy shifts. High volatility index scores correlate with prolonged stay durations in temporary overflow facilities.</a:t>
            </a:r>
          </a:p>
          <a:p>
            <a:pPr marL="342900" lvl="0" indent="-342900">
              <a:buFont typeface="Arial" panose="020B0604020202020204" pitchFamily="34" charset="0"/>
              <a:buChar char="•"/>
            </a:pPr>
            <a:r>
              <a:rPr lang="en-US" b="1" dirty="0">
                <a:effectLst/>
                <a:latin typeface="Google Sans Text"/>
              </a:rPr>
              <a:t>Discharge Offset Deficit:</a:t>
            </a:r>
            <a:r>
              <a:rPr lang="en-US" dirty="0">
                <a:effectLst/>
                <a:latin typeface="Google Sans Text"/>
              </a:rPr>
              <a:t> Analyzing the ratio of monthly discharges to monthly transfers demonstrates that operational capacity strain is driven more by </a:t>
            </a:r>
            <a:r>
              <a:rPr lang="en-US" b="1" dirty="0">
                <a:effectLst/>
                <a:latin typeface="Google Sans Text"/>
              </a:rPr>
              <a:t>sponsor vetting bottlenecks</a:t>
            </a:r>
            <a:r>
              <a:rPr lang="en-US" dirty="0">
                <a:effectLst/>
                <a:latin typeface="Google Sans Text"/>
              </a:rPr>
              <a:t> than by the rate of physical intakes alone</a:t>
            </a:r>
          </a:p>
        </p:txBody>
      </p:sp>
      <p:sp>
        <p:nvSpPr>
          <p:cNvPr id="6" name="TextBox 5">
            <a:extLst>
              <a:ext uri="{FF2B5EF4-FFF2-40B4-BE49-F238E27FC236}">
                <a16:creationId xmlns:a16="http://schemas.microsoft.com/office/drawing/2014/main" id="{8C3975EB-5C55-4A09-965B-2C1EF4C3EEAC}"/>
              </a:ext>
            </a:extLst>
          </p:cNvPr>
          <p:cNvSpPr txBox="1"/>
          <p:nvPr/>
        </p:nvSpPr>
        <p:spPr>
          <a:xfrm>
            <a:off x="6094268" y="144840"/>
            <a:ext cx="6094268" cy="3970318"/>
          </a:xfrm>
          <a:prstGeom prst="rect">
            <a:avLst/>
          </a:prstGeom>
          <a:noFill/>
        </p:spPr>
        <p:txBody>
          <a:bodyPr wrap="square">
            <a:spAutoFit/>
          </a:bodyPr>
          <a:lstStyle/>
          <a:p>
            <a:pPr>
              <a:buNone/>
            </a:pPr>
            <a:r>
              <a:rPr lang="en-US" b="1" dirty="0">
                <a:effectLst/>
                <a:latin typeface="Google Sans Text"/>
              </a:rPr>
              <a:t>Short-Term Operational Interventions</a:t>
            </a:r>
            <a:endParaRPr lang="en-US" b="1" dirty="0">
              <a:effectLst/>
              <a:latin typeface="Google Sans"/>
            </a:endParaRPr>
          </a:p>
          <a:p>
            <a:pPr marL="342900" lvl="0" indent="-342900">
              <a:buFont typeface="Arial" panose="020B0604020202020204" pitchFamily="34" charset="0"/>
              <a:buChar char="•"/>
            </a:pPr>
            <a:r>
              <a:rPr lang="en-US" b="1" dirty="0">
                <a:effectLst/>
                <a:latin typeface="Google Sans Text"/>
              </a:rPr>
              <a:t>Automated Early Warning Alerts:</a:t>
            </a:r>
            <a:r>
              <a:rPr lang="en-US" dirty="0">
                <a:effectLst/>
                <a:latin typeface="Google Sans Text"/>
              </a:rPr>
              <a:t> Set up automated triggers when the </a:t>
            </a:r>
            <a:r>
              <a:rPr lang="en-US" i="1" dirty="0">
                <a:effectLst/>
                <a:latin typeface="Google Sans Text"/>
              </a:rPr>
              <a:t>Net Intake Pressure</a:t>
            </a:r>
            <a:r>
              <a:rPr lang="en-US" dirty="0">
                <a:effectLst/>
                <a:latin typeface="Google Sans Text"/>
              </a:rPr>
              <a:t> stays positive for 5 consecutive days or when the </a:t>
            </a:r>
            <a:r>
              <a:rPr lang="en-US" i="1" dirty="0">
                <a:effectLst/>
                <a:latin typeface="Google Sans Text"/>
              </a:rPr>
              <a:t>Care Load Volatility Index</a:t>
            </a:r>
            <a:r>
              <a:rPr lang="en-US" dirty="0">
                <a:effectLst/>
                <a:latin typeface="Google Sans Text"/>
              </a:rPr>
              <a:t> exceeds historical 90th percentile thresholds.</a:t>
            </a:r>
          </a:p>
          <a:p>
            <a:pPr marL="342900" lvl="0" indent="-342900">
              <a:buFont typeface="Arial" panose="020B0604020202020204" pitchFamily="34" charset="0"/>
              <a:buChar char="•"/>
            </a:pPr>
            <a:r>
              <a:rPr lang="en-US" b="1" dirty="0">
                <a:effectLst/>
                <a:latin typeface="Google Sans Text"/>
              </a:rPr>
              <a:t>Streamlined Category-1 Sponsor Vetting:</a:t>
            </a:r>
            <a:r>
              <a:rPr lang="en-US" dirty="0">
                <a:effectLst/>
                <a:latin typeface="Google Sans Text"/>
              </a:rPr>
              <a:t> Prioritize expedite-vetting protocols for direct parents and legal guardians (Category 1 sponsors) to safely accelerate discharges and free up shelter capacity during high-demand windows.</a:t>
            </a:r>
          </a:p>
          <a:p>
            <a:pPr marL="342900" lvl="0" indent="-342900">
              <a:buFont typeface="Arial" panose="020B0604020202020204" pitchFamily="34" charset="0"/>
              <a:buChar char="•"/>
            </a:pPr>
            <a:r>
              <a:rPr lang="en-US" b="1" dirty="0">
                <a:effectLst/>
                <a:latin typeface="Google Sans Text"/>
              </a:rPr>
              <a:t>Inter-Agency Real-Time Data Pipelines:</a:t>
            </a:r>
            <a:r>
              <a:rPr lang="en-US" dirty="0">
                <a:effectLst/>
                <a:latin typeface="Google Sans Text"/>
              </a:rPr>
              <a:t> Replace batch reporting with live API integrations between CBP border processing systems and HHS shelter tracking databases to improve intake forecasting.</a:t>
            </a:r>
          </a:p>
        </p:txBody>
      </p:sp>
    </p:spTree>
    <p:extLst>
      <p:ext uri="{BB962C8B-B14F-4D97-AF65-F5344CB8AC3E}">
        <p14:creationId xmlns:p14="http://schemas.microsoft.com/office/powerpoint/2010/main" val="13278505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21CB496-69EB-FF87-F2F7-E70C9D68C3FF}"/>
              </a:ext>
            </a:extLst>
          </p:cNvPr>
          <p:cNvSpPr txBox="1"/>
          <p:nvPr/>
        </p:nvSpPr>
        <p:spPr>
          <a:xfrm>
            <a:off x="636443" y="404750"/>
            <a:ext cx="6094268" cy="3970318"/>
          </a:xfrm>
          <a:prstGeom prst="rect">
            <a:avLst/>
          </a:prstGeom>
          <a:noFill/>
        </p:spPr>
        <p:txBody>
          <a:bodyPr wrap="square">
            <a:spAutoFit/>
          </a:bodyPr>
          <a:lstStyle/>
          <a:p>
            <a:r>
              <a:rPr lang="en-US" b="1" dirty="0"/>
              <a:t>Strategic &amp; Policy Recommendations</a:t>
            </a:r>
          </a:p>
          <a:p>
            <a:pPr lvl="0"/>
            <a:r>
              <a:rPr lang="en-US" b="1" dirty="0"/>
              <a:t>Dynamic Flexible Bed Reserves:</a:t>
            </a:r>
            <a:r>
              <a:rPr lang="en-US" dirty="0"/>
              <a:t> Maintain a baseline of scalable emergency contract beds that can be activated gradually based on 14-day rolling intake projections, reducing reliance on emergency facilities.</a:t>
            </a:r>
          </a:p>
          <a:p>
            <a:pPr lvl="0"/>
            <a:r>
              <a:rPr lang="en-US" b="1" dirty="0"/>
              <a:t>Regional Sponsor Vetting Hubs:</a:t>
            </a:r>
            <a:r>
              <a:rPr lang="en-US" dirty="0"/>
              <a:t> Decentralize sponsor evaluation teams to regions with high potential-sponsor density, directly addressing the core bottleneck in the care pipeline.</a:t>
            </a:r>
          </a:p>
          <a:p>
            <a:pPr lvl="0"/>
            <a:r>
              <a:rPr lang="en-US" b="1" dirty="0"/>
              <a:t>Standardized Reporting Auditing:</a:t>
            </a:r>
            <a:r>
              <a:rPr lang="en-US" dirty="0"/>
              <a:t> Implement continuous validation scripts (similar to the data quality phase in the pipeline) to prevent misclassified records and missing dates across agency feeds.</a:t>
            </a:r>
          </a:p>
          <a:p>
            <a:pPr>
              <a:buNone/>
            </a:pPr>
            <a:endParaRPr lang="en-US" dirty="0"/>
          </a:p>
        </p:txBody>
      </p:sp>
    </p:spTree>
    <p:extLst>
      <p:ext uri="{BB962C8B-B14F-4D97-AF65-F5344CB8AC3E}">
        <p14:creationId xmlns:p14="http://schemas.microsoft.com/office/powerpoint/2010/main" val="37476682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CC82AC-D53C-0724-3893-E772CB365F38}"/>
              </a:ext>
            </a:extLst>
          </p:cNvPr>
          <p:cNvSpPr txBox="1"/>
          <p:nvPr/>
        </p:nvSpPr>
        <p:spPr>
          <a:xfrm>
            <a:off x="4075834" y="3296841"/>
            <a:ext cx="6094268" cy="769441"/>
          </a:xfrm>
          <a:prstGeom prst="rect">
            <a:avLst/>
          </a:prstGeom>
          <a:noFill/>
        </p:spPr>
        <p:txBody>
          <a:bodyPr wrap="square">
            <a:spAutoFit/>
          </a:bodyPr>
          <a:lstStyle/>
          <a:p>
            <a:pPr>
              <a:buNone/>
            </a:pPr>
            <a:r>
              <a:rPr lang="en-US" sz="4400" dirty="0">
                <a:effectLst/>
                <a:latin typeface="Gill Sans Ultra Bold" panose="020B0A02020104020203" pitchFamily="34" charset="0"/>
              </a:rPr>
              <a:t>Thank you </a:t>
            </a:r>
          </a:p>
        </p:txBody>
      </p:sp>
    </p:spTree>
    <p:extLst>
      <p:ext uri="{BB962C8B-B14F-4D97-AF65-F5344CB8AC3E}">
        <p14:creationId xmlns:p14="http://schemas.microsoft.com/office/powerpoint/2010/main" val="14976022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5029</TotalTime>
  <Words>1351</Words>
  <Application>Microsoft Office PowerPoint</Application>
  <PresentationFormat>Widescreen</PresentationFormat>
  <Paragraphs>74</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Bahnschrift SemiBold Condensed</vt:lpstr>
      <vt:lpstr>Calibri</vt:lpstr>
      <vt:lpstr>Gill Sans Ultra Bold</vt:lpstr>
      <vt:lpstr>Google Sans</vt:lpstr>
      <vt:lpstr>Google Sans Text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lenovo</dc:creator>
  <cp:keywords/>
  <dc:description>generated using python-pptx</dc:description>
  <cp:lastModifiedBy>Muskan Sharma</cp:lastModifiedBy>
  <cp:revision>11</cp:revision>
  <dcterms:created xsi:type="dcterms:W3CDTF">2013-01-27T09:14:16Z</dcterms:created>
  <dcterms:modified xsi:type="dcterms:W3CDTF">2026-08-07T03:36:35Z</dcterms:modified>
  <cp:category/>
</cp:coreProperties>
</file>