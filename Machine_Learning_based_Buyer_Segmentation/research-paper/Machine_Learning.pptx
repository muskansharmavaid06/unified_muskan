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6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rojects.unifiedmentor.com/project_instructions?id=19212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6255" y="140277"/>
            <a:ext cx="11752118" cy="657744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245628"/>
            <a:ext cx="9746579" cy="1513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200" b="1" dirty="0">
                <a:latin typeface="Bahnschrift SemiBold Condensed" panose="020B0502040204020203" pitchFamily="34" charset="0"/>
              </a:rPr>
              <a:t>Machine learning based Buyer Segmentation and Investment Profiling </a:t>
            </a:r>
            <a:br>
              <a:rPr lang="en-US" sz="3200" b="1" dirty="0">
                <a:latin typeface="Bahnschrift SemiBold Condensed" panose="020B0502040204020203" pitchFamily="34" charset="0"/>
              </a:rPr>
            </a:br>
            <a:r>
              <a:rPr lang="en-US" sz="3200" b="1" dirty="0">
                <a:latin typeface="Bahnschrift SemiBold Condensed" panose="020B0502040204020203" pitchFamily="34" charset="0"/>
              </a:rPr>
              <a:t>for Real Estate Market Intelligence</a:t>
            </a:r>
          </a:p>
          <a:p>
            <a:pPr>
              <a:spcBef>
                <a:spcPts val="1000"/>
              </a:spcBef>
              <a:defRPr sz="2000">
                <a:solidFill>
                  <a:srgbClr val="3182CE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97280" y="5728281"/>
            <a:ext cx="190475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rPr lang="en-US" sz="2000" b="1" dirty="0"/>
              <a:t>Muskan Sharma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endParaRPr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DE1D4C-289F-03B9-55CA-1E2BBCF31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6044089"/>
            <a:ext cx="1463167" cy="3962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rPr dirty="0"/>
              <a:t>RESEARCH PAPER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94377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rPr lang="en-US" sz="2600" b="1" dirty="0"/>
              <a:t>Introduction &amp; Background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19" y="1132523"/>
            <a:ext cx="10989425" cy="4902517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b="1" dirty="0"/>
              <a:t>Engagement Profiling:</a:t>
            </a:r>
            <a:r>
              <a:rPr lang="en-US" dirty="0"/>
              <a:t> Categorizes customers into key behavioral segments (e.g., </a:t>
            </a:r>
            <a:r>
              <a:rPr lang="en-US" i="1" dirty="0"/>
              <a:t>Active Engaged</a:t>
            </a:r>
            <a:r>
              <a:rPr lang="en-US" dirty="0"/>
              <a:t>, </a:t>
            </a:r>
            <a:r>
              <a:rPr lang="en-US" i="1" dirty="0"/>
              <a:t>Inactive Disengaged</a:t>
            </a:r>
            <a:r>
              <a:rPr lang="en-US" dirty="0"/>
              <a:t>, </a:t>
            </a:r>
            <a:r>
              <a:rPr lang="en-US" i="1" dirty="0"/>
              <a:t>Active Low-Product</a:t>
            </a:r>
            <a:r>
              <a:rPr lang="en-US" dirty="0"/>
              <a:t>, and </a:t>
            </a:r>
            <a:r>
              <a:rPr lang="en-US" i="1" dirty="0"/>
              <a:t>Inactive High-Balance</a:t>
            </a:r>
            <a:r>
              <a:rPr lang="en-US" dirty="0"/>
              <a:t>).</a:t>
            </a:r>
          </a:p>
          <a:p>
            <a:pPr lvl="0"/>
            <a:r>
              <a:rPr lang="en-US" b="1" dirty="0"/>
              <a:t>Product Utilization Analysis:</a:t>
            </a:r>
            <a:r>
              <a:rPr lang="en-US" dirty="0"/>
              <a:t> Examines how relationship depth (holding 1 vs. multiple bank products) impacts churn and customer retention.</a:t>
            </a:r>
          </a:p>
          <a:p>
            <a:pPr lvl="0"/>
            <a:r>
              <a:rPr lang="en-US" b="1" dirty="0"/>
              <a:t>Financial Commitment vs. Activity:</a:t>
            </a:r>
            <a:r>
              <a:rPr lang="en-US" dirty="0"/>
              <a:t> Identifies </a:t>
            </a:r>
            <a:r>
              <a:rPr lang="en-US" b="1" dirty="0"/>
              <a:t>"At-Risk Premium Customers"</a:t>
            </a:r>
            <a:r>
              <a:rPr lang="en-US" dirty="0"/>
              <a:t>—high-balance account holders who are inactive and single-product users, making them vulnerable to silent churn.</a:t>
            </a:r>
          </a:p>
          <a:p>
            <a:pPr lvl="0"/>
            <a:r>
              <a:rPr lang="en-US" b="1" dirty="0"/>
              <a:t>Retention Strength &amp; KPIs:</a:t>
            </a:r>
            <a:r>
              <a:rPr lang="en-US" dirty="0"/>
              <a:t> Tracks key metrics such as </a:t>
            </a:r>
            <a:r>
              <a:rPr lang="en-US" i="1" dirty="0"/>
              <a:t>Engagement Retention Ratio</a:t>
            </a:r>
            <a:r>
              <a:rPr lang="en-US" dirty="0"/>
              <a:t>, </a:t>
            </a:r>
            <a:r>
              <a:rPr lang="en-US" i="1" dirty="0"/>
              <a:t>Product Depth Index</a:t>
            </a:r>
            <a:r>
              <a:rPr lang="en-US" dirty="0"/>
              <a:t>, </a:t>
            </a:r>
            <a:r>
              <a:rPr lang="en-US" i="1" dirty="0"/>
              <a:t>High-Balance Disengagement Rate</a:t>
            </a:r>
            <a:r>
              <a:rPr lang="en-US" dirty="0"/>
              <a:t>, and </a:t>
            </a:r>
            <a:r>
              <a:rPr lang="en-US" i="1" dirty="0"/>
              <a:t>Relationship Strength Index</a:t>
            </a:r>
            <a:r>
              <a:rPr lang="en-US" dirty="0"/>
              <a:t> to measure overall account loyalty.</a:t>
            </a:r>
          </a:p>
          <a:p>
            <a:pPr lvl="0"/>
            <a:r>
              <a:rPr lang="en-US" b="1" dirty="0"/>
              <a:t>Interactive </a:t>
            </a:r>
            <a:r>
              <a:rPr lang="en-US" b="1" dirty="0" err="1"/>
              <a:t>Streamlit</a:t>
            </a:r>
            <a:r>
              <a:rPr lang="en-US" b="1" dirty="0"/>
              <a:t> Web App:</a:t>
            </a:r>
            <a:r>
              <a:rPr lang="en-US" dirty="0"/>
              <a:t> A dynamic analytics platform allowing stakeholders to filter by geography, product counts, active status, and financial thresholds to explore churn drivers in real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8910" y="1321623"/>
            <a:ext cx="1045464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The real estate sector is characterized by high transaction values and a highly diverse buyer base with varying purchasing behaviors, financial capacities, and strategic goals. Modern real estate platforms interact with a broad spectrum of client archetypes, including:</a:t>
            </a:r>
          </a:p>
          <a:p>
            <a:endParaRPr lang="en-US" dirty="0"/>
          </a:p>
          <a:p>
            <a:endParaRPr lang="en-US" dirty="0"/>
          </a:p>
          <a:p>
            <a:pPr lvl="0"/>
            <a:r>
              <a:rPr lang="en-US" b="1" dirty="0"/>
              <a:t>Individual Homebuyers:</a:t>
            </a:r>
            <a:r>
              <a:rPr lang="en-US" dirty="0"/>
              <a:t> Local consumers purchasing for primary residential utility.</a:t>
            </a:r>
          </a:p>
          <a:p>
            <a:pPr lvl="0"/>
            <a:r>
              <a:rPr lang="en-US" b="1" dirty="0"/>
              <a:t>First-Time Buyers:</a:t>
            </a:r>
            <a:r>
              <a:rPr lang="en-US" dirty="0"/>
              <a:t> Budget-conscious clients heavily reliant on mortgage financing.</a:t>
            </a:r>
          </a:p>
          <a:p>
            <a:pPr lvl="0"/>
            <a:r>
              <a:rPr lang="en-US" b="1" dirty="0"/>
              <a:t>Institutional &amp; Corporate Buyers:</a:t>
            </a:r>
            <a:r>
              <a:rPr lang="en-US" dirty="0"/>
              <a:t> Organizations executing high-volume or commercial acquisitions.</a:t>
            </a:r>
          </a:p>
          <a:p>
            <a:pPr lvl="0"/>
            <a:r>
              <a:rPr lang="en-US" b="1" dirty="0"/>
              <a:t>High-Net-Worth &amp; International Investors:</a:t>
            </a:r>
            <a:r>
              <a:rPr lang="en-US" dirty="0"/>
              <a:t> Cross-border buyers focused on portfolio growth and yield optimization.</a:t>
            </a:r>
          </a:p>
          <a:p>
            <a:pPr lvl="0"/>
            <a:endParaRPr lang="en-US" dirty="0"/>
          </a:p>
          <a:p>
            <a:r>
              <a:rPr lang="en-US" dirty="0"/>
              <a:t>Treating all buyers as a single, uniform cohort leads to significant operational inefficiencies, including high Customer Acquisition Costs (CAC), broad marketing strategies, and mismatched property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DA729F-2E4E-E029-5561-B166E52D2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99" y="401934"/>
            <a:ext cx="10624568" cy="53132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192206-906B-9E41-B263-6C985322B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123" y="673241"/>
            <a:ext cx="10531753" cy="513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325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EF7DBD-A566-A86C-CC37-B951F4E76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07" y="952285"/>
            <a:ext cx="10912786" cy="495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212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59B05B-7A45-4517-ABFF-94FF412A7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59" y="1828661"/>
            <a:ext cx="10874682" cy="320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068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B932EF-C06A-7FED-EFCC-14BAE5A3583A}"/>
              </a:ext>
            </a:extLst>
          </p:cNvPr>
          <p:cNvSpPr txBox="1"/>
          <p:nvPr/>
        </p:nvSpPr>
        <p:spPr>
          <a:xfrm>
            <a:off x="172064" y="245971"/>
            <a:ext cx="118478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 Statement Overview</a:t>
            </a:r>
          </a:p>
          <a:p>
            <a:pPr>
              <a:buNone/>
            </a:pPr>
            <a:r>
              <a:rPr lang="en-US" dirty="0"/>
              <a:t>In modern real estate markets, customer bases are highly heterogeneous, spanning individual homebuyers, corporate entities, high-net-worth individuals, and first-time buyers. </a:t>
            </a:r>
            <a:r>
              <a:rPr lang="en-US" dirty="0">
                <a:hlinkClick r:id="rId2"/>
              </a:rPr>
              <a:t>Parcl Co. Limited</a:t>
            </a:r>
            <a:r>
              <a:rPr lang="en-US" dirty="0"/>
              <a:t> currently lacks a structured, data-driven framework to understand and categorize these distinct buyer segments.</a:t>
            </a:r>
          </a:p>
          <a:p>
            <a:pPr>
              <a:buNone/>
            </a:pPr>
            <a:r>
              <a:rPr lang="en-US" dirty="0"/>
              <a:t>Without granular market intelligence, the platform operates under a uniform, one-size-fits-all model. This creates specific analytical and operational knowledge gaps across four core areas: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F01A5-792F-5AB3-E124-DED72244C546}"/>
              </a:ext>
            </a:extLst>
          </p:cNvPr>
          <p:cNvSpPr txBox="1"/>
          <p:nvPr/>
        </p:nvSpPr>
        <p:spPr>
          <a:xfrm>
            <a:off x="275303" y="2163207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Different Types of Property Buyers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The Issue:</a:t>
            </a:r>
            <a:r>
              <a:rPr lang="en-US" dirty="0"/>
              <a:t> Unawareness of distinct customer archetypes (e.g., individual buyers vs. corporate entities, first-time homeowners vs. seasoned investors).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Impact:</a:t>
            </a:r>
            <a:r>
              <a:rPr lang="en-US" dirty="0"/>
              <a:t> Treating high-net-worth buyers the same as budget-constrained first-time buyers leads to irrelevant property recommendations and poor user experience.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Investment Motivations Across Demographics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The Issue:</a:t>
            </a:r>
            <a:r>
              <a:rPr lang="en-US" dirty="0"/>
              <a:t> Lack of visibility into primary acquisition drivers (e.g., personal primary residence vs. long-term capital appreciation or rental yield).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Impact:</a:t>
            </a:r>
            <a:r>
              <a:rPr lang="en-US" dirty="0"/>
              <a:t> Marketing campaigns fail to resonate because promotional messaging is not tailored to the buyer's core financial intent.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37FB7A-C454-A404-4337-B2349383AA3F}"/>
              </a:ext>
            </a:extLst>
          </p:cNvPr>
          <p:cNvSpPr txBox="1"/>
          <p:nvPr/>
        </p:nvSpPr>
        <p:spPr>
          <a:xfrm>
            <a:off x="6096000" y="2087714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Geographic Differences in Investment Behavior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The Issue:</a:t>
            </a:r>
            <a:r>
              <a:rPr lang="en-US" dirty="0"/>
              <a:t> Inability to track spatial trends and cross-border purchasing habits across different countries and regions.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Impact:</a:t>
            </a:r>
            <a:r>
              <a:rPr lang="en-US" dirty="0"/>
              <a:t> Missed opportunities in identifying high-growth regional demand or catering to cross-border/international investors seeking portfolio diversification.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Customer Financing Patterns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The Issue:</a:t>
            </a:r>
            <a:r>
              <a:rPr lang="en-US" dirty="0"/>
              <a:t> Unclear insights into buyer financial dependency, such as mortgage reliance versus full cash funding.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Impact:</a:t>
            </a:r>
            <a:r>
              <a:rPr lang="en-US" dirty="0"/>
              <a:t> Failure to present timely financial products, pre-approval tools, or tailored mortgage assistance to loan-dependent segments at crucial points in the buyer funnel.</a:t>
            </a:r>
          </a:p>
        </p:txBody>
      </p:sp>
    </p:spTree>
    <p:extLst>
      <p:ext uri="{BB962C8B-B14F-4D97-AF65-F5344CB8AC3E}">
        <p14:creationId xmlns:p14="http://schemas.microsoft.com/office/powerpoint/2010/main" val="80540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1CB496-69EB-FF87-F2F7-E70C9D68C3FF}"/>
              </a:ext>
            </a:extLst>
          </p:cNvPr>
          <p:cNvSpPr txBox="1"/>
          <p:nvPr/>
        </p:nvSpPr>
        <p:spPr>
          <a:xfrm>
            <a:off x="4217172" y="3183193"/>
            <a:ext cx="60942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47668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4944</TotalTime>
  <Words>564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Bahnschrift SemiBold Condensed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Muskan Sharma</cp:lastModifiedBy>
  <cp:revision>15</cp:revision>
  <dcterms:created xsi:type="dcterms:W3CDTF">2013-01-27T09:14:16Z</dcterms:created>
  <dcterms:modified xsi:type="dcterms:W3CDTF">2026-08-08T20:49:31Z</dcterms:modified>
  <cp:category/>
</cp:coreProperties>
</file>