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8" r:id="rId6"/>
    <p:sldId id="267" r:id="rId7"/>
    <p:sldId id="259" r:id="rId8"/>
    <p:sldId id="261" r:id="rId9"/>
    <p:sldId id="262" r:id="rId10"/>
    <p:sldId id="263" r:id="rId11"/>
    <p:sldId id="260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255" y="140277"/>
            <a:ext cx="11752118" cy="65774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45628"/>
            <a:ext cx="10525638" cy="102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latin typeface="Bahnschrift SemiBold Condensed" panose="020B0502040204020203" pitchFamily="34" charset="0"/>
              </a:rPr>
              <a:t>Customer Engagement &amp; Product Utilization Analytics for Retention Strategy</a:t>
            </a:r>
          </a:p>
          <a:p>
            <a:pPr>
              <a:spcBef>
                <a:spcPts val="1000"/>
              </a:spcBef>
              <a:defRPr sz="2000">
                <a:solidFill>
                  <a:srgbClr val="3182CE"/>
                </a:solidFill>
              </a:defRPr>
            </a:pPr>
            <a:r>
              <a:rPr lang="en-US" dirty="0"/>
              <a:t>European Bank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5728281"/>
            <a:ext cx="19047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rPr lang="en-US" sz="2000" b="1" dirty="0"/>
              <a:t>Muskan Sharma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DE1D4C-289F-03B9-55CA-1E2BBCF3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044089"/>
            <a:ext cx="1463167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rPr dirty="0"/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9437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b="1" dirty="0"/>
              <a:t>Introduction &amp; Background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19" y="1132523"/>
            <a:ext cx="10989425" cy="490251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/>
              <a:t>Engagement Profiling:</a:t>
            </a:r>
            <a:r>
              <a:rPr lang="en-US" dirty="0"/>
              <a:t> Categorizes customers into key behavioral segments (e.g., </a:t>
            </a:r>
            <a:r>
              <a:rPr lang="en-US" i="1" dirty="0"/>
              <a:t>Active Engaged</a:t>
            </a:r>
            <a:r>
              <a:rPr lang="en-US" dirty="0"/>
              <a:t>, </a:t>
            </a:r>
            <a:r>
              <a:rPr lang="en-US" i="1" dirty="0"/>
              <a:t>Inactive Disengaged</a:t>
            </a:r>
            <a:r>
              <a:rPr lang="en-US" dirty="0"/>
              <a:t>, </a:t>
            </a:r>
            <a:r>
              <a:rPr lang="en-US" i="1" dirty="0"/>
              <a:t>Active Low-Product</a:t>
            </a:r>
            <a:r>
              <a:rPr lang="en-US" dirty="0"/>
              <a:t>, and </a:t>
            </a:r>
            <a:r>
              <a:rPr lang="en-US" i="1" dirty="0"/>
              <a:t>Inactive High-Balance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Product Utilization Analysis:</a:t>
            </a:r>
            <a:r>
              <a:rPr lang="en-US" dirty="0"/>
              <a:t> Examines how relationship depth (holding 1 vs. multiple bank products) impacts churn and customer retention.</a:t>
            </a:r>
          </a:p>
          <a:p>
            <a:pPr lvl="0"/>
            <a:r>
              <a:rPr lang="en-US" b="1" dirty="0"/>
              <a:t>Financial Commitment vs. Activity:</a:t>
            </a:r>
            <a:r>
              <a:rPr lang="en-US" dirty="0"/>
              <a:t> Identifies </a:t>
            </a:r>
            <a:r>
              <a:rPr lang="en-US" b="1" dirty="0"/>
              <a:t>"At-Risk Premium Customers"</a:t>
            </a:r>
            <a:r>
              <a:rPr lang="en-US" dirty="0"/>
              <a:t>—high-balance account holders who are inactive and single-product users, making them vulnerable to silent churn.</a:t>
            </a:r>
          </a:p>
          <a:p>
            <a:pPr lvl="0"/>
            <a:r>
              <a:rPr lang="en-US" b="1" dirty="0"/>
              <a:t>Retention Strength &amp; KPIs:</a:t>
            </a:r>
            <a:r>
              <a:rPr lang="en-US" dirty="0"/>
              <a:t> Tracks key metrics such as </a:t>
            </a:r>
            <a:r>
              <a:rPr lang="en-US" i="1" dirty="0"/>
              <a:t>Engagement Retention Ratio</a:t>
            </a:r>
            <a:r>
              <a:rPr lang="en-US" dirty="0"/>
              <a:t>, </a:t>
            </a:r>
            <a:r>
              <a:rPr lang="en-US" i="1" dirty="0"/>
              <a:t>Product Depth Index</a:t>
            </a:r>
            <a:r>
              <a:rPr lang="en-US" dirty="0"/>
              <a:t>, </a:t>
            </a:r>
            <a:r>
              <a:rPr lang="en-US" i="1" dirty="0"/>
              <a:t>High-Balance Disengagement Rate</a:t>
            </a:r>
            <a:r>
              <a:rPr lang="en-US" dirty="0"/>
              <a:t>, and </a:t>
            </a:r>
            <a:r>
              <a:rPr lang="en-US" i="1" dirty="0"/>
              <a:t>Relationship Strength Index</a:t>
            </a:r>
            <a:r>
              <a:rPr lang="en-US" dirty="0"/>
              <a:t> to measure overall account loyalty.</a:t>
            </a:r>
          </a:p>
          <a:p>
            <a:pPr lvl="0"/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Web App:</a:t>
            </a:r>
            <a:r>
              <a:rPr lang="en-US" dirty="0"/>
              <a:t> A dynamic analytics platform allowing stakeholders to filter by geography, product counts, active status, and financial thresholds to explore churn drivers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910" y="1321623"/>
            <a:ext cx="104546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project evaluates bank customer churn through the lens of customer behavior, engagement levels, and product usage rather than relying solely on traditional demographics. The goal is to build a data-driven framework and an interactive dashboard to help banks design targeted retention strategies and reduce customer churn—especially among high-value, disengaged accounts.</a:t>
            </a:r>
          </a:p>
          <a:p>
            <a:endParaRPr lang="en-US" dirty="0"/>
          </a:p>
          <a:p>
            <a:pPr lvl="0"/>
            <a:r>
              <a:rPr lang="en-US" b="1" dirty="0"/>
              <a:t>Engagement Profiling:</a:t>
            </a:r>
            <a:r>
              <a:rPr lang="en-US" dirty="0"/>
              <a:t> Categorizes customers into key behavioral segments (e.g., </a:t>
            </a:r>
            <a:r>
              <a:rPr lang="en-US" i="1" dirty="0"/>
              <a:t>Active Engaged</a:t>
            </a:r>
            <a:r>
              <a:rPr lang="en-US" dirty="0"/>
              <a:t>, </a:t>
            </a:r>
            <a:r>
              <a:rPr lang="en-US" i="1" dirty="0"/>
              <a:t>Inactive Disengaged</a:t>
            </a:r>
            <a:r>
              <a:rPr lang="en-US" dirty="0"/>
              <a:t>, </a:t>
            </a:r>
            <a:r>
              <a:rPr lang="en-US" i="1" dirty="0"/>
              <a:t>Active Low-Product</a:t>
            </a:r>
            <a:r>
              <a:rPr lang="en-US" dirty="0"/>
              <a:t>, and </a:t>
            </a:r>
            <a:r>
              <a:rPr lang="en-US" i="1" dirty="0"/>
              <a:t>Inactive High-Balance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Product Utilization Analysis:</a:t>
            </a:r>
            <a:r>
              <a:rPr lang="en-US" dirty="0"/>
              <a:t> Examines how relationship depth (holding 1 vs. multiple bank products) impacts churn and customer retention.</a:t>
            </a:r>
          </a:p>
          <a:p>
            <a:pPr lvl="0"/>
            <a:r>
              <a:rPr lang="en-US" b="1" dirty="0"/>
              <a:t>Financial Commitment vs. Activity:</a:t>
            </a:r>
            <a:r>
              <a:rPr lang="en-US" dirty="0"/>
              <a:t> Identifies </a:t>
            </a:r>
            <a:r>
              <a:rPr lang="en-US" b="1" dirty="0"/>
              <a:t>"At-Risk Premium Customers"</a:t>
            </a:r>
            <a:r>
              <a:rPr lang="en-US" dirty="0"/>
              <a:t>—high-balance account holders who are inactive and single-product users, making them vulnerable to silent churn.</a:t>
            </a:r>
          </a:p>
          <a:p>
            <a:pPr lvl="0"/>
            <a:r>
              <a:rPr lang="en-US" b="1" dirty="0"/>
              <a:t>Retention Strength &amp; KPIs:</a:t>
            </a:r>
            <a:r>
              <a:rPr lang="en-US" dirty="0"/>
              <a:t> Tracks key metrics such as </a:t>
            </a:r>
            <a:r>
              <a:rPr lang="en-US" i="1" dirty="0"/>
              <a:t>Engagement Retention Ratio</a:t>
            </a:r>
            <a:r>
              <a:rPr lang="en-US" dirty="0"/>
              <a:t>, </a:t>
            </a:r>
            <a:r>
              <a:rPr lang="en-US" i="1" dirty="0"/>
              <a:t>Product Depth Index</a:t>
            </a:r>
            <a:r>
              <a:rPr lang="en-US" dirty="0"/>
              <a:t>, </a:t>
            </a:r>
            <a:r>
              <a:rPr lang="en-US" i="1" dirty="0"/>
              <a:t>High-Balance Disengagement Rate</a:t>
            </a:r>
            <a:r>
              <a:rPr lang="en-US" dirty="0"/>
              <a:t>, and </a:t>
            </a:r>
            <a:r>
              <a:rPr lang="en-US" i="1" dirty="0"/>
              <a:t>Relationship Strength Index</a:t>
            </a:r>
            <a:r>
              <a:rPr lang="en-US" dirty="0"/>
              <a:t> to measure overall account loyalty.</a:t>
            </a:r>
          </a:p>
          <a:p>
            <a:pPr lvl="0"/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Web App:</a:t>
            </a:r>
            <a:r>
              <a:rPr lang="en-US" dirty="0"/>
              <a:t> A dynamic analytics platform allowing stakeholders to filter by geography, product counts, active status, and financial thresholds to explore churn drivers in real time.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047" y="644236"/>
            <a:ext cx="4060920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b="1" dirty="0"/>
              <a:t>Key Performance Indicators 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38202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06193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744694-BA42-A2C8-A07A-F5FFB54C5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37" y="1855817"/>
            <a:ext cx="3168867" cy="1531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03EE36-5107-F2A0-97BB-7A3FF12E3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46" y="1783080"/>
            <a:ext cx="3045599" cy="16459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052E3C-3770-9CCB-DD04-5E422C6DE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61012"/>
            <a:ext cx="3278122" cy="14900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6666E5-E8FC-1B75-8940-B610EC74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186" y="4254685"/>
            <a:ext cx="2578145" cy="14914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2DB1E4-FBB8-3220-A8A9-FD6513A9E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079" y="4091843"/>
            <a:ext cx="3321262" cy="17374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3CDC9-722B-303D-BB91-6374528E6EF7}"/>
              </a:ext>
            </a:extLst>
          </p:cNvPr>
          <p:cNvSpPr txBox="1"/>
          <p:nvPr/>
        </p:nvSpPr>
        <p:spPr>
          <a:xfrm>
            <a:off x="355889" y="78701"/>
            <a:ext cx="649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Key Performance Indicators (KPIs)</a:t>
            </a:r>
            <a:r>
              <a:rPr lang="en-US" sz="3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598B2-8822-FA22-D55B-8A1D9B39978D}"/>
                  </a:ext>
                </a:extLst>
              </p:cNvPr>
              <p:cNvSpPr txBox="1"/>
              <p:nvPr/>
            </p:nvSpPr>
            <p:spPr>
              <a:xfrm>
                <a:off x="231198" y="946526"/>
                <a:ext cx="5483802" cy="2759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Google Sans"/>
                  </a:rPr>
                  <a:t>1.</a:t>
                </a:r>
                <a:r>
                  <a:rPr lang="en-US" b="1" dirty="0">
                    <a:effectLst/>
                    <a:latin typeface="Google Sans"/>
                  </a:rPr>
                  <a:t>Engagement Retention Ratio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Compares the retention rate (or churn rate) of active members against inactive members.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Calculation Concept: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Retention Rate of Active Members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Retention Rate of Inactive Members</m:t>
                        </m:r>
                      </m:den>
                    </m:f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Purpose:</a:t>
                </a:r>
                <a:r>
                  <a:rPr lang="en-US" dirty="0">
                    <a:effectLst/>
                    <a:latin typeface="Google Sans Text"/>
                  </a:rPr>
                  <a:t> Quantifies the direct impact of digital/branch activity on keeping customers loyal. A higher ratio indicates that customer engagement is a key factor in preventing churn.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598B2-8822-FA22-D55B-8A1D9B399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98" y="946526"/>
                <a:ext cx="5483802" cy="2759473"/>
              </a:xfrm>
              <a:prstGeom prst="rect">
                <a:avLst/>
              </a:prstGeom>
              <a:blipFill>
                <a:blip r:embed="rId2"/>
                <a:stretch>
                  <a:fillRect l="-1000" t="-1104" r="-444" b="-2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FB8B4-43A4-7F39-4504-54AE2059247D}"/>
                  </a:ext>
                </a:extLst>
              </p:cNvPr>
              <p:cNvSpPr txBox="1"/>
              <p:nvPr/>
            </p:nvSpPr>
            <p:spPr>
              <a:xfrm>
                <a:off x="6195580" y="942971"/>
                <a:ext cx="5182466" cy="2814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2. Product Depth Index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Measures retention performance based on the number of products a customer holds (single-product vs. multi-product usage).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Calculation Concept: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Retention Rate of Multi−Product Customers (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≥2</m:t>
                        </m:r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Retention Rate of Single−Product Customers (1)</m:t>
                        </m:r>
                      </m:den>
                    </m:f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Purpose:</a:t>
                </a:r>
                <a:r>
                  <a:rPr lang="en-US" dirty="0">
                    <a:effectLst/>
                    <a:latin typeface="Google Sans Text"/>
                  </a:rPr>
                  <a:t> Evaluates how cross-selling additional banking services anchors a customer to the bank and lowers churn risk.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FB8B4-43A4-7F39-4504-54AE2059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80" y="942971"/>
                <a:ext cx="5182466" cy="2814810"/>
              </a:xfrm>
              <a:prstGeom prst="rect">
                <a:avLst/>
              </a:prstGeom>
              <a:blipFill>
                <a:blip r:embed="rId3"/>
                <a:stretch>
                  <a:fillRect l="-941" t="-1302" r="-1647" b="-2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BA3EF-D8AA-9DBE-4E94-592DEAF5E239}"/>
                  </a:ext>
                </a:extLst>
              </p:cNvPr>
              <p:cNvSpPr txBox="1"/>
              <p:nvPr/>
            </p:nvSpPr>
            <p:spPr>
              <a:xfrm>
                <a:off x="267566" y="4121636"/>
                <a:ext cx="11567679" cy="1979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3. High-Balance Disengagement Rate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Measures the proportion of high-value accounts (customers with balances above a defined threshold) that are inactive (</a:t>
                </a:r>
                <a:r>
                  <a:rPr lang="en-US" dirty="0" err="1">
                    <a:effectLst/>
                    <a:latin typeface="Google Sans Text"/>
                  </a:rPr>
                  <a:t>IsActiveMember</a:t>
                </a:r>
                <a:r>
                  <a:rPr lang="en-US" dirty="0">
                    <a:effectLst/>
                    <a:latin typeface="Google Sans Text"/>
                  </a:rPr>
                  <a:t> = 0).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Calculation Concept: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Inactive High−Balance Customers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Total High−Balance Customers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Purpose:</a:t>
                </a:r>
                <a:r>
                  <a:rPr lang="en-US" dirty="0">
                    <a:effectLst/>
                    <a:latin typeface="Google Sans Text"/>
                  </a:rPr>
                  <a:t> Serves as an early warning metric for </a:t>
                </a:r>
                <a:r>
                  <a:rPr lang="en-US" b="1" dirty="0">
                    <a:effectLst/>
                    <a:latin typeface="Google Sans Text"/>
                  </a:rPr>
                  <a:t>premium churn risk</a:t>
                </a:r>
                <a:r>
                  <a:rPr lang="en-US" dirty="0">
                    <a:effectLst/>
                    <a:latin typeface="Google Sans Text"/>
                  </a:rPr>
                  <a:t>, identifying high-net-worth customers who may quietly transfer funds out or churn without prior warning signs.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BA3EF-D8AA-9DBE-4E94-592DEAF5E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66" y="4121636"/>
                <a:ext cx="11567679" cy="1979453"/>
              </a:xfrm>
              <a:prstGeom prst="rect">
                <a:avLst/>
              </a:prstGeom>
              <a:blipFill>
                <a:blip r:embed="rId4"/>
                <a:stretch>
                  <a:fillRect l="-474" t="-1538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39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56BCA-C27A-2014-4BD1-6346E24F4F0E}"/>
              </a:ext>
            </a:extLst>
          </p:cNvPr>
          <p:cNvSpPr txBox="1"/>
          <p:nvPr/>
        </p:nvSpPr>
        <p:spPr>
          <a:xfrm>
            <a:off x="216310" y="111761"/>
            <a:ext cx="1205434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None/>
            </a:pPr>
            <a:r>
              <a:rPr lang="en-US" dirty="0"/>
              <a:t>Despite collecting vast amounts of data on customer engagement and product usage, banks frequently lack clear, actionable insights into actual customer behavior. As a result, retention strategies are often generic, reactive, and misaligned with real customer loyalty dynamics.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2BFED-1F3D-598D-791C-2A4C15ADDD33}"/>
              </a:ext>
            </a:extLst>
          </p:cNvPr>
          <p:cNvSpPr txBox="1"/>
          <p:nvPr/>
        </p:nvSpPr>
        <p:spPr>
          <a:xfrm>
            <a:off x="393290" y="1411207"/>
            <a:ext cx="52504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Quantitative Insight Into Which Behaviors Drive Retention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Core Gap:</a:t>
            </a:r>
            <a:r>
              <a:rPr lang="en-US" dirty="0"/>
              <a:t> Banks track basic transactional data but often fail to isolate specific engagement signals—such as digital platform logins, feature utilization, or recurring transactions—that directly prevent churn.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Impact:</a:t>
            </a:r>
            <a:r>
              <a:rPr lang="en-US" dirty="0"/>
              <a:t> Retention teams end up targeting broad demographics rather than specific behavior-based customer segments, missing early warning signs of disengagement before a customer leaves.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832BB-39EE-11A9-6488-17D044D7D2F4}"/>
              </a:ext>
            </a:extLst>
          </p:cNvPr>
          <p:cNvSpPr txBox="1"/>
          <p:nvPr/>
        </p:nvSpPr>
        <p:spPr>
          <a:xfrm>
            <a:off x="5643716" y="131209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Clarity On Whether Product Depth Reduces Churn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Core Gap:</a:t>
            </a:r>
            <a:r>
              <a:rPr lang="en-US" dirty="0"/>
              <a:t> While cross-selling is standard practice, banks lack quantitative proof regarding the threshold of products required to create true "stickiness." It is often unclear whether holding multiple basic products (e.g., credit card + savings) meaningfully reduces churn compared to deep relationship products (e.g., mortgage + primary checking).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Impact:</a:t>
            </a:r>
            <a:r>
              <a:rPr lang="en-US" dirty="0"/>
              <a:t> Cross-selling efforts risk pushing irrelevant products that add operational cost without effectively improving long-term retention.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B4B90-A14E-84EC-BA80-EB14A342FD2A}"/>
              </a:ext>
            </a:extLst>
          </p:cNvPr>
          <p:cNvSpPr txBox="1"/>
          <p:nvPr/>
        </p:nvSpPr>
        <p:spPr>
          <a:xfrm>
            <a:off x="393290" y="4774577"/>
            <a:ext cx="107073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Evidence On Whether High Balances Alone Ensure Loyalty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Core Gap:</a:t>
            </a:r>
            <a:r>
              <a:rPr lang="en-US" dirty="0"/>
              <a:t> There is a common assumption that high-balance accounts are inherently loyal. However, high-balance customers who are inactive or hold only a single product pose a severe "silent churn" risk—they may suddenly transfer funds to a competitor offering better rates or experience.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Impact:</a:t>
            </a:r>
            <a:r>
              <a:rPr lang="en-US" dirty="0"/>
              <a:t> Banks often over-focus retention efforts on low-balance active accounts while inadvertently ignoring high-value, disengaged accounts until it is too late.</a:t>
            </a:r>
          </a:p>
        </p:txBody>
      </p:sp>
    </p:spTree>
    <p:extLst>
      <p:ext uri="{BB962C8B-B14F-4D97-AF65-F5344CB8AC3E}">
        <p14:creationId xmlns:p14="http://schemas.microsoft.com/office/powerpoint/2010/main" val="4064715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D51E6B-295D-7B5C-9F1F-EB955972B618}"/>
              </a:ext>
            </a:extLst>
          </p:cNvPr>
          <p:cNvSpPr txBox="1"/>
          <p:nvPr/>
        </p:nvSpPr>
        <p:spPr>
          <a:xfrm>
            <a:off x="501361" y="1135394"/>
            <a:ext cx="6094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Relationship Strength Index (RSI)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r>
              <a:rPr lang="en-US" dirty="0"/>
              <a:t> A composite score (scaled from 0 to 100) combining member activity, product adoption depth, and baseline retention stability.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Calculation Concept:</a:t>
            </a:r>
            <a:r>
              <a:rPr lang="en-US" dirty="0"/>
              <a:t> A weighted sum combining active status percentage, average product utilization depth, and overall customer retention rate.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Strategic Purpose:</a:t>
            </a:r>
            <a:r>
              <a:rPr lang="en-US" dirty="0"/>
              <a:t> Provides executive leadership with a single overarching metric to track health and overall customer loyalty across the portfolio.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729794-08AD-1ECB-78E4-14AC52284010}"/>
                  </a:ext>
                </a:extLst>
              </p:cNvPr>
              <p:cNvSpPr txBox="1"/>
              <p:nvPr/>
            </p:nvSpPr>
            <p:spPr>
              <a:xfrm>
                <a:off x="6463145" y="1135394"/>
                <a:ext cx="5394613" cy="2578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Google Sans"/>
                  </a:rPr>
                  <a:t>5</a:t>
                </a:r>
                <a:r>
                  <a:rPr lang="en-US" b="1" dirty="0">
                    <a:effectLst/>
                    <a:latin typeface="Google Sans"/>
                  </a:rPr>
                  <a:t>. Credit Card Stickiness Score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Measures the net retention advantage gained by issuing a credit card to a customer.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Calculation Concept: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Retention Rate (Credit Card Owners)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Retention Rate (Non−Credit Card Owners)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Purpose:</a:t>
                </a:r>
                <a:r>
                  <a:rPr lang="en-US" dirty="0">
                    <a:effectLst/>
                    <a:latin typeface="Google Sans Text"/>
                  </a:rPr>
                  <a:t> Evaluates whether owning a credit card enhances relationship stickiness and daily transactional loyalty.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729794-08AD-1ECB-78E4-14AC52284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145" y="1135394"/>
                <a:ext cx="5394613" cy="2578976"/>
              </a:xfrm>
              <a:prstGeom prst="rect">
                <a:avLst/>
              </a:prstGeom>
              <a:blipFill>
                <a:blip r:embed="rId2"/>
                <a:stretch>
                  <a:fillRect l="-904" t="-1182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89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393" y="640080"/>
            <a:ext cx="646657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rPr lang="en-US" dirty="0"/>
              <a:t> Engagement Classification &amp; Risk Analysis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en-US" dirty="0"/>
              <a:t>  Breakdown of customer share and churn risk across engagement profiles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5F451E-8FF4-FCE4-1F13-85383F94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7" y="792251"/>
            <a:ext cx="10912786" cy="5273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E0BA2D2-5443-4E85-033E-9E272D30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4" y="512711"/>
            <a:ext cx="11000272" cy="52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2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A73FF-39D5-5D4F-A530-6EA9F96E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00" y="910371"/>
            <a:ext cx="11065199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E43DF-F936-B237-F6D9-DED91F6F8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9" y="1020871"/>
            <a:ext cx="10874682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6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7884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b="1" dirty="0"/>
              <a:t>Engagement Classification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22713" y="1766455"/>
            <a:ext cx="95934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Active Engaged Customers</a:t>
            </a:r>
          </a:p>
          <a:p>
            <a:pPr lvl="0"/>
            <a:r>
              <a:rPr lang="en-US" sz="1400" b="1" dirty="0"/>
              <a:t>Definition:</a:t>
            </a:r>
            <a:r>
              <a:rPr lang="en-US" sz="1400" dirty="0"/>
              <a:t> Highly active members (</a:t>
            </a:r>
            <a:r>
              <a:rPr lang="en-US" sz="1400" dirty="0" err="1"/>
              <a:t>IsActiveMember</a:t>
            </a:r>
            <a:r>
              <a:rPr lang="en-US" sz="1400" dirty="0"/>
              <a:t> = 1) who utilize multiple bank products (</a:t>
            </a:r>
            <a:r>
              <a:rPr lang="en-US" sz="1400" dirty="0" err="1"/>
              <a:t>NumOfProducts</a:t>
            </a:r>
            <a:r>
              <a:rPr lang="en-US" sz="1400" dirty="0"/>
              <a:t> &gt;= 2).</a:t>
            </a:r>
          </a:p>
          <a:p>
            <a:pPr lvl="0"/>
            <a:r>
              <a:rPr lang="en-US" sz="1400" b="1" dirty="0"/>
              <a:t>Characteristics:</a:t>
            </a:r>
            <a:r>
              <a:rPr lang="en-US" sz="1400" dirty="0"/>
              <a:t> Strong brand loyalty, multi-product adoption, and low churn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6432" y="2642279"/>
            <a:ext cx="10728655" cy="78672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2713" y="2603962"/>
            <a:ext cx="101498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Inactive Disengaged Customers</a:t>
            </a:r>
          </a:p>
          <a:p>
            <a:pPr lvl="0"/>
            <a:r>
              <a:rPr lang="en-US" sz="1400" b="1" dirty="0"/>
              <a:t>Definition:</a:t>
            </a:r>
            <a:r>
              <a:rPr lang="en-US" sz="1400" dirty="0"/>
              <a:t> Non-active members (</a:t>
            </a:r>
            <a:r>
              <a:rPr lang="en-US" sz="1400" dirty="0" err="1"/>
              <a:t>IsActiveMember</a:t>
            </a:r>
            <a:r>
              <a:rPr lang="en-US" sz="1400" dirty="0"/>
              <a:t> = 0) holding only a single product (</a:t>
            </a:r>
            <a:r>
              <a:rPr lang="en-US" sz="1400" dirty="0" err="1"/>
              <a:t>NumOfProducts</a:t>
            </a:r>
            <a:r>
              <a:rPr lang="en-US" sz="1400" dirty="0"/>
              <a:t> = 1).</a:t>
            </a:r>
          </a:p>
          <a:p>
            <a:pPr lvl="0"/>
            <a:r>
              <a:rPr lang="en-US" sz="1400" b="1" dirty="0"/>
              <a:t>Characteristics:</a:t>
            </a:r>
            <a:r>
              <a:rPr lang="en-US" sz="1400" dirty="0"/>
              <a:t> Low interaction, minimal relationship depth, and high risk of silent churn.</a:t>
            </a:r>
          </a:p>
          <a:p>
            <a:pPr>
              <a:defRPr sz="1600" b="1">
                <a:solidFill>
                  <a:srgbClr val="1A365D"/>
                </a:solidFill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19" y="3510959"/>
            <a:ext cx="10728655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2712" y="3531914"/>
            <a:ext cx="101498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Active but Low-Product Customers</a:t>
            </a:r>
          </a:p>
          <a:p>
            <a:pPr lvl="0"/>
            <a:r>
              <a:rPr lang="en-US" sz="1400" b="1" dirty="0"/>
              <a:t>Definition:</a:t>
            </a:r>
            <a:r>
              <a:rPr lang="en-US" sz="1400" dirty="0"/>
              <a:t> Active members (</a:t>
            </a:r>
            <a:r>
              <a:rPr lang="en-US" sz="1400" dirty="0" err="1"/>
              <a:t>IsActiveMember</a:t>
            </a:r>
            <a:r>
              <a:rPr lang="en-US" sz="1400" dirty="0"/>
              <a:t> = 1) who rely on only one product (</a:t>
            </a:r>
            <a:r>
              <a:rPr lang="en-US" sz="1400" dirty="0" err="1"/>
              <a:t>NumOfProducts</a:t>
            </a:r>
            <a:r>
              <a:rPr lang="en-US" sz="1400" dirty="0"/>
              <a:t> = 1).</a:t>
            </a:r>
          </a:p>
          <a:p>
            <a:pPr lvl="0"/>
            <a:r>
              <a:rPr lang="en-US" sz="1400" b="1" dirty="0"/>
              <a:t>Characteristics:</a:t>
            </a:r>
            <a:r>
              <a:rPr lang="en-US" sz="1400" dirty="0"/>
              <a:t> Frequent platform interactions but shallow relationship depth; prime targets for cross-selling.</a:t>
            </a:r>
          </a:p>
          <a:p>
            <a:pPr>
              <a:defRPr sz="1600" b="1">
                <a:solidFill>
                  <a:srgbClr val="1A365D"/>
                </a:solidFill>
              </a:defRPr>
            </a:pPr>
            <a:endParaRPr dirty="0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86C13A63-2AB8-1BA9-959F-A75DA5DEFC42}"/>
              </a:ext>
            </a:extLst>
          </p:cNvPr>
          <p:cNvSpPr/>
          <p:nvPr/>
        </p:nvSpPr>
        <p:spPr>
          <a:xfrm>
            <a:off x="716432" y="4564339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     Inactive High-Balance Customers 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     Definition</a:t>
            </a:r>
            <a:r>
              <a:rPr lang="en-US" sz="1400" dirty="0">
                <a:solidFill>
                  <a:schemeClr val="tx1"/>
                </a:solidFill>
              </a:rPr>
              <a:t>: Non-active members (</a:t>
            </a:r>
            <a:r>
              <a:rPr lang="en-US" sz="1400" dirty="0" err="1">
                <a:solidFill>
                  <a:schemeClr val="tx1"/>
                </a:solidFill>
              </a:rPr>
              <a:t>IsActiveMember</a:t>
            </a:r>
            <a:r>
              <a:rPr lang="en-US" sz="1400" dirty="0">
                <a:solidFill>
                  <a:schemeClr val="tx1"/>
                </a:solidFill>
              </a:rPr>
              <a:t> = 0) holding a high account balance (Balance &gt;= Threshold).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     Characteristics</a:t>
            </a:r>
            <a:r>
              <a:rPr lang="en-US" sz="1400" dirty="0">
                <a:solidFill>
                  <a:schemeClr val="tx1"/>
                </a:solidFill>
              </a:rPr>
              <a:t>: High financial value but low activity; represents "at-risk premium customers" with high revenue loss if churned. </a:t>
            </a:r>
            <a:endParaRPr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D195E3-A7F2-DA66-4FF9-FE3365FBC01E}"/>
              </a:ext>
            </a:extLst>
          </p:cNvPr>
          <p:cNvSpPr txBox="1"/>
          <p:nvPr/>
        </p:nvSpPr>
        <p:spPr>
          <a:xfrm>
            <a:off x="283152" y="1080160"/>
            <a:ext cx="53902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Product Utilization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Churn Rate by Number of Products:</a:t>
            </a:r>
            <a:r>
              <a:rPr lang="en-US" dirty="0"/>
              <a:t> Calculates and compares the churn percentage across customers holding 1, 2, 3, or 4 products. Typically, holding 2 products yields the lowest churn, while holding 3 or 4 products (or just 1) often shows sharp increases in churn.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Single-Product vs Multi-Product Retention:</a:t>
            </a:r>
            <a:r>
              <a:rPr lang="en-US" dirty="0"/>
              <a:t> Compares the retention rate of customers with only 1 banking product against those with 2+ products to quantify the churn-reduction benefit of product adoption.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Product Depth vs Churn Relationship:</a:t>
            </a:r>
            <a:r>
              <a:rPr lang="en-US" dirty="0"/>
              <a:t> Evaluates how relationship depth (how integrated a customer is with multiple offerings) acts as an anchor to reduce churn risk up to an optimal saturation point.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52CB4-D37F-8886-A354-E17620A05E1D}"/>
              </a:ext>
            </a:extLst>
          </p:cNvPr>
          <p:cNvSpPr txBox="1"/>
          <p:nvPr/>
        </p:nvSpPr>
        <p:spPr>
          <a:xfrm>
            <a:off x="6096000" y="889843"/>
            <a:ext cx="56985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Financial Commitment vs Engagement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Balance vs Activity Cross-Analysis:</a:t>
            </a:r>
            <a:r>
              <a:rPr lang="en-US" dirty="0"/>
              <a:t> Evaluates the interaction between account balance (</a:t>
            </a:r>
            <a:r>
              <a:rPr lang="en-US" dirty="0">
                <a:latin typeface="Courier New" panose="02070309020205020404" pitchFamily="49" charset="0"/>
              </a:rPr>
              <a:t>Balance</a:t>
            </a:r>
            <a:r>
              <a:rPr lang="en-US" dirty="0"/>
              <a:t>) and active membership (</a:t>
            </a:r>
            <a:r>
              <a:rPr lang="en-US" dirty="0" err="1">
                <a:latin typeface="Courier New" panose="02070309020205020404" pitchFamily="49" charset="0"/>
              </a:rPr>
              <a:t>IsActiveMember</a:t>
            </a:r>
            <a:r>
              <a:rPr lang="en-US" dirty="0"/>
              <a:t>). It separates passive wealth hoarders from actively engaged depositors.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Salary–Balance Mismatch Detection:</a:t>
            </a:r>
            <a:r>
              <a:rPr lang="en-US" dirty="0"/>
              <a:t> Identifies customers with low estimated salaries but disproportionately high balances (or vice versa), highlighting potential anomalous account behavior, wealth transfers, or miscategorized customer segments.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Identification of "At-Risk Premium Customers":</a:t>
            </a:r>
            <a:r>
              <a:rPr lang="en-US" dirty="0"/>
              <a:t> Flags customers who maintain substantial balances (</a:t>
            </a:r>
            <a:r>
              <a:rPr lang="en-US" dirty="0">
                <a:latin typeface="Courier New" panose="02070309020205020404" pitchFamily="49" charset="0"/>
              </a:rPr>
              <a:t>Balance &gt;= Threshold</a:t>
            </a:r>
            <a:r>
              <a:rPr lang="en-US" dirty="0"/>
              <a:t>), hold a single product, and are currently inactive. These accounts represent high potential revenue loss if they churn silently.</a:t>
            </a:r>
          </a:p>
        </p:txBody>
      </p:sp>
    </p:spTree>
    <p:extLst>
      <p:ext uri="{BB962C8B-B14F-4D97-AF65-F5344CB8AC3E}">
        <p14:creationId xmlns:p14="http://schemas.microsoft.com/office/powerpoint/2010/main" val="132785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CB496-69EB-FF87-F2F7-E70C9D68C3FF}"/>
              </a:ext>
            </a:extLst>
          </p:cNvPr>
          <p:cNvSpPr txBox="1"/>
          <p:nvPr/>
        </p:nvSpPr>
        <p:spPr>
          <a:xfrm>
            <a:off x="3047134" y="1443841"/>
            <a:ext cx="60942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Retention Strength Assessment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Define "Sticky Customer" Profiles:</a:t>
            </a:r>
            <a:r>
              <a:rPr lang="en-US" dirty="0"/>
              <a:t> Establishes the ideal retention profile—typically defined as an active member (</a:t>
            </a:r>
            <a:r>
              <a:rPr lang="en-US" dirty="0" err="1">
                <a:latin typeface="Courier New" panose="02070309020205020404" pitchFamily="49" charset="0"/>
              </a:rPr>
              <a:t>IsActiveMember</a:t>
            </a:r>
            <a:r>
              <a:rPr lang="en-US" dirty="0">
                <a:latin typeface="Courier New" panose="02070309020205020404" pitchFamily="49" charset="0"/>
              </a:rPr>
              <a:t> = 1</a:t>
            </a:r>
            <a:r>
              <a:rPr lang="en-US" dirty="0"/>
              <a:t>) who owns a credit card (</a:t>
            </a:r>
            <a:r>
              <a:rPr lang="en-US" dirty="0" err="1">
                <a:latin typeface="Courier New" panose="02070309020205020404" pitchFamily="49" charset="0"/>
              </a:rPr>
              <a:t>HasCrCard</a:t>
            </a:r>
            <a:r>
              <a:rPr lang="en-US" dirty="0">
                <a:latin typeface="Courier New" panose="02070309020205020404" pitchFamily="49" charset="0"/>
              </a:rPr>
              <a:t> = 1</a:t>
            </a:r>
            <a:r>
              <a:rPr lang="en-US" dirty="0"/>
              <a:t>) and utilizes multiple products (</a:t>
            </a:r>
            <a:r>
              <a:rPr lang="en-US" dirty="0" err="1">
                <a:latin typeface="Courier New" panose="02070309020205020404" pitchFamily="49" charset="0"/>
              </a:rPr>
              <a:t>NumOfProducts</a:t>
            </a:r>
            <a:r>
              <a:rPr lang="en-US" dirty="0">
                <a:latin typeface="Courier New" panose="02070309020205020404" pitchFamily="49" charset="0"/>
              </a:rPr>
              <a:t> &gt;= 2</a:t>
            </a:r>
            <a:r>
              <a:rPr lang="en-US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Measure Churn Stability Across Engagement Tiers:</a:t>
            </a:r>
            <a:r>
              <a:rPr lang="en-US" dirty="0"/>
              <a:t> Analyzes churn consistency across defined engagement categories to determine which tiers exhibit stable retention versus high churn volatility.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Identify Engagement Thresholds Linked to Retention:</a:t>
            </a:r>
            <a:r>
              <a:rPr lang="en-US" dirty="0"/>
              <a:t> Determines the exact behavioral inflection points (e.g., minimum product count or activity status) required to significantly boost long-term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374766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4933</TotalTime>
  <Words>1517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 SemiBold Condensed</vt:lpstr>
      <vt:lpstr>Calibri</vt:lpstr>
      <vt:lpstr>Cambria Math</vt:lpstr>
      <vt:lpstr>Courier New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Muskan Sharma</cp:lastModifiedBy>
  <cp:revision>12</cp:revision>
  <dcterms:created xsi:type="dcterms:W3CDTF">2013-01-27T09:14:16Z</dcterms:created>
  <dcterms:modified xsi:type="dcterms:W3CDTF">2026-08-07T03:48:07Z</dcterms:modified>
  <cp:category/>
</cp:coreProperties>
</file>