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9" r:id="rId6"/>
    <p:sldId id="268" r:id="rId7"/>
    <p:sldId id="270" r:id="rId8"/>
    <p:sldId id="271" r:id="rId9"/>
    <p:sldId id="267" r:id="rId10"/>
    <p:sldId id="261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s.unifiedmentor.com/project_instructions?id=1921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255" y="140277"/>
            <a:ext cx="11752118" cy="65774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1036" y="2245628"/>
            <a:ext cx="114425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latin typeface="Bahnschrift SemiBold Condensed" panose="020B0502040204020203" pitchFamily="34" charset="0"/>
              </a:rPr>
              <a:t>INSTRUCTOR PERFORMANCE AND COURCSE QUALITY EVALUATION ON EDUPROEDUCATION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728281"/>
            <a:ext cx="19047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rPr lang="en-US" sz="2000" b="1" dirty="0"/>
              <a:t>Muskan Sharma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DE1D4C-289F-03B9-55CA-1E2BBCF3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044089"/>
            <a:ext cx="1463167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rPr dirty="0"/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39437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b="1" dirty="0"/>
              <a:t>Introduction &amp; Background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19" y="1132523"/>
            <a:ext cx="10989425" cy="490251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/>
              <a:t>Engagement Profiling:</a:t>
            </a:r>
            <a:r>
              <a:rPr lang="en-US" dirty="0"/>
              <a:t> Categorizes customers into key behavioral segments (e.g., </a:t>
            </a:r>
            <a:r>
              <a:rPr lang="en-US" i="1" dirty="0"/>
              <a:t>Active Engaged</a:t>
            </a:r>
            <a:r>
              <a:rPr lang="en-US" dirty="0"/>
              <a:t>, </a:t>
            </a:r>
            <a:r>
              <a:rPr lang="en-US" i="1" dirty="0"/>
              <a:t>Inactive Disengaged</a:t>
            </a:r>
            <a:r>
              <a:rPr lang="en-US" dirty="0"/>
              <a:t>, </a:t>
            </a:r>
            <a:r>
              <a:rPr lang="en-US" i="1" dirty="0"/>
              <a:t>Active Low-Product</a:t>
            </a:r>
            <a:r>
              <a:rPr lang="en-US" dirty="0"/>
              <a:t>, and </a:t>
            </a:r>
            <a:r>
              <a:rPr lang="en-US" i="1" dirty="0"/>
              <a:t>Inactive High-Balance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Product Utilization Analysis:</a:t>
            </a:r>
            <a:r>
              <a:rPr lang="en-US" dirty="0"/>
              <a:t> Examines how relationship depth (holding 1 vs. multiple bank products) impacts churn and customer retention.</a:t>
            </a:r>
          </a:p>
          <a:p>
            <a:pPr lvl="0"/>
            <a:r>
              <a:rPr lang="en-US" b="1" dirty="0"/>
              <a:t>Financial Commitment vs. Activity:</a:t>
            </a:r>
            <a:r>
              <a:rPr lang="en-US" dirty="0"/>
              <a:t> Identifies </a:t>
            </a:r>
            <a:r>
              <a:rPr lang="en-US" b="1" dirty="0"/>
              <a:t>"At-Risk Premium Customers"</a:t>
            </a:r>
            <a:r>
              <a:rPr lang="en-US" dirty="0"/>
              <a:t>—high-balance account holders who are inactive and single-product users, making them vulnerable to silent churn.</a:t>
            </a:r>
          </a:p>
          <a:p>
            <a:pPr lvl="0"/>
            <a:r>
              <a:rPr lang="en-US" b="1" dirty="0"/>
              <a:t>Retention Strength &amp; KPIs:</a:t>
            </a:r>
            <a:r>
              <a:rPr lang="en-US" dirty="0"/>
              <a:t> Tracks key metrics such as </a:t>
            </a:r>
            <a:r>
              <a:rPr lang="en-US" i="1" dirty="0"/>
              <a:t>Engagement Retention Ratio</a:t>
            </a:r>
            <a:r>
              <a:rPr lang="en-US" dirty="0"/>
              <a:t>, </a:t>
            </a:r>
            <a:r>
              <a:rPr lang="en-US" i="1" dirty="0"/>
              <a:t>Product Depth Index</a:t>
            </a:r>
            <a:r>
              <a:rPr lang="en-US" dirty="0"/>
              <a:t>, </a:t>
            </a:r>
            <a:r>
              <a:rPr lang="en-US" i="1" dirty="0"/>
              <a:t>High-Balance Disengagement Rate</a:t>
            </a:r>
            <a:r>
              <a:rPr lang="en-US" dirty="0"/>
              <a:t>, and </a:t>
            </a:r>
            <a:r>
              <a:rPr lang="en-US" i="1" dirty="0"/>
              <a:t>Relationship Strength Index</a:t>
            </a:r>
            <a:r>
              <a:rPr lang="en-US" dirty="0"/>
              <a:t> to measure overall account loyalty.</a:t>
            </a:r>
          </a:p>
          <a:p>
            <a:pPr lvl="0"/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Web App:</a:t>
            </a:r>
            <a:r>
              <a:rPr lang="en-US" dirty="0"/>
              <a:t> A dynamic analytics platform allowing stakeholders to filter by geography, product counts, active status, and financial thresholds to explore churn drivers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910" y="1321623"/>
            <a:ext cx="1045464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rapidly expanding ecosystem of online education, platforms face intense competition to attract and retain learners. While initial marketing campaigns and course catalog breadth drive platform acquisition and enrollment, long-term viability and growth are governed by </a:t>
            </a:r>
            <a:r>
              <a:rPr lang="en-US" b="1" dirty="0"/>
              <a:t>instructional quality</a:t>
            </a:r>
            <a:r>
              <a:rPr lang="en-US" dirty="0"/>
              <a:t> and </a:t>
            </a:r>
            <a:r>
              <a:rPr lang="en-US" b="1" dirty="0"/>
              <a:t>course design consistency</a:t>
            </a:r>
            <a:r>
              <a:rPr lang="en-US" dirty="0"/>
              <a:t>.</a:t>
            </a:r>
          </a:p>
          <a:p>
            <a:r>
              <a:rPr lang="en-US" dirty="0"/>
              <a:t>Within platforms like </a:t>
            </a:r>
            <a:r>
              <a:rPr lang="en-US" dirty="0" err="1">
                <a:hlinkClick r:id="rId2"/>
              </a:rPr>
              <a:t>EduPro</a:t>
            </a:r>
            <a:r>
              <a:rPr lang="en-US" dirty="0"/>
              <a:t>, instructional quality directly impacts core platform metrics, including:</a:t>
            </a:r>
          </a:p>
          <a:p>
            <a:endParaRPr lang="en-US" dirty="0"/>
          </a:p>
          <a:p>
            <a:pPr lvl="0"/>
            <a:r>
              <a:rPr lang="en-US" b="1" dirty="0"/>
              <a:t>Learner Satisfaction &amp; Trust:</a:t>
            </a:r>
            <a:r>
              <a:rPr lang="en-US" dirty="0"/>
              <a:t> High-quality teaching fosters positive learning experiences and high course ratings.</a:t>
            </a:r>
          </a:p>
          <a:p>
            <a:pPr lvl="0"/>
            <a:r>
              <a:rPr lang="en-US" b="1" dirty="0"/>
              <a:t>Course Completion &amp; Retention:</a:t>
            </a:r>
            <a:r>
              <a:rPr lang="en-US" dirty="0"/>
              <a:t> Clear, engaging instruction reduces drop-out rates and encourages repeat enrollments across different categories.</a:t>
            </a:r>
          </a:p>
          <a:p>
            <a:pPr lvl="0"/>
            <a:r>
              <a:rPr lang="en-US" b="1" dirty="0"/>
              <a:t>Platform Credibility:</a:t>
            </a:r>
            <a:r>
              <a:rPr lang="en-US" dirty="0"/>
              <a:t> High rating consistency reinforces brand reputation and drives organic student acquisition.</a:t>
            </a:r>
          </a:p>
          <a:p>
            <a:r>
              <a:rPr lang="en-US" dirty="0"/>
              <a:t>Conversely, poor instructional quality leads to widespread negative feedback, high refund requests, reduced course ratings, and diminished trust in the platform's overall offerings.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047" y="644236"/>
            <a:ext cx="100044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dirty="0"/>
              <a:t>Data Integration across Users ↔ Teachers ↔ Courses ↔ Transactions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38202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06193" y="4023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60966-C453-2087-B60E-AF9A86AC8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14" y="1931539"/>
            <a:ext cx="2356915" cy="1659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2B6EBE-D1D7-0BD1-220E-1EEF9742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896" y="2004386"/>
            <a:ext cx="2290095" cy="1269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8B588F-4AA2-2BE8-AC08-50B200F4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593" y="2004386"/>
            <a:ext cx="2414327" cy="15310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E894BB-D4CE-1118-8636-C434A71C3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716" y="4258281"/>
            <a:ext cx="2120425" cy="15703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686B2F-35B7-ED82-9516-30769D9B2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4258280"/>
            <a:ext cx="3317611" cy="1670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3CDC9-722B-303D-BB91-6374528E6EF7}"/>
              </a:ext>
            </a:extLst>
          </p:cNvPr>
          <p:cNvSpPr txBox="1"/>
          <p:nvPr/>
        </p:nvSpPr>
        <p:spPr>
          <a:xfrm>
            <a:off x="252120" y="150377"/>
            <a:ext cx="649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Key Performance Indicators (KPIs)</a:t>
            </a:r>
            <a:r>
              <a:rPr lang="en-US" sz="320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598B2-8822-FA22-D55B-8A1D9B39978D}"/>
                  </a:ext>
                </a:extLst>
              </p:cNvPr>
              <p:cNvSpPr txBox="1"/>
              <p:nvPr/>
            </p:nvSpPr>
            <p:spPr>
              <a:xfrm>
                <a:off x="231198" y="946526"/>
                <a:ext cx="5483802" cy="367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1. Average Teacher Rating</a:t>
                </a:r>
              </a:p>
              <a:p>
                <a:pPr lvl="0"/>
                <a:r>
                  <a:rPr lang="en-US" b="1" dirty="0"/>
                  <a:t>Description:</a:t>
                </a:r>
                <a:r>
                  <a:rPr lang="en-US" dirty="0"/>
                  <a:t> Teaching quality benchmark</a:t>
                </a:r>
              </a:p>
              <a:p>
                <a:pPr lvl="0"/>
                <a:r>
                  <a:rPr lang="en-US" b="1" dirty="0"/>
                  <a:t>What It Measures:</a:t>
                </a:r>
                <a:r>
                  <a:rPr lang="en-US" dirty="0"/>
                  <a:t> The baseline effectiveness and overall satisfaction rating of instructors across the platform.</a:t>
                </a:r>
              </a:p>
              <a:p>
                <a:pPr lvl="0"/>
                <a:r>
                  <a:rPr lang="en-US" b="1" dirty="0"/>
                  <a:t>Mathematical Formula:</a:t>
                </a:r>
                <a:endParaRPr lang="en-US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/>
                        <m:t>Average Teacher Rating</m:t>
                      </m:r>
                      <m:r>
                        <a:rPr lang="en-US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/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TeacherRating</m:t>
                              </m:r>
                            </m:e>
                          </m:nary>
                        </m:num>
                        <m:den>
                          <m:r>
                            <a:rPr lang="en-US" i="1"/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i="1" dirty="0"/>
                  <a:t>(where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i="1" dirty="0"/>
                  <a:t>is the total number of teachers)</a:t>
                </a:r>
                <a:endParaRPr lang="en-US" dirty="0"/>
              </a:p>
              <a:p>
                <a:pPr lvl="0"/>
                <a:r>
                  <a:rPr lang="en-US" b="1" dirty="0"/>
                  <a:t>Strategic Value:</a:t>
                </a:r>
                <a:r>
                  <a:rPr lang="en-US" dirty="0"/>
                  <a:t> Acts as a primary benchmark to assess overall educator performance. A declining average alerts platform administrators to widespread instructional gaps or changing student expectations.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D598B2-8822-FA22-D55B-8A1D9B399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98" y="946526"/>
                <a:ext cx="5483802" cy="3672993"/>
              </a:xfrm>
              <a:prstGeom prst="rect">
                <a:avLst/>
              </a:prstGeom>
              <a:blipFill>
                <a:blip r:embed="rId2"/>
                <a:stretch>
                  <a:fillRect l="-1000" t="-829" r="-1222" b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FB8B4-43A4-7F39-4504-54AE2059247D}"/>
                  </a:ext>
                </a:extLst>
              </p:cNvPr>
              <p:cNvSpPr txBox="1"/>
              <p:nvPr/>
            </p:nvSpPr>
            <p:spPr>
              <a:xfrm>
                <a:off x="6195580" y="942971"/>
                <a:ext cx="5182466" cy="367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2. Average Course Rating</a:t>
                </a:r>
              </a:p>
              <a:p>
                <a:pPr lvl="0"/>
                <a:r>
                  <a:rPr lang="en-US" b="1" dirty="0"/>
                  <a:t>Description:</a:t>
                </a:r>
                <a:r>
                  <a:rPr lang="en-US" dirty="0"/>
                  <a:t> Content effectiveness</a:t>
                </a:r>
              </a:p>
              <a:p>
                <a:pPr lvl="0"/>
                <a:r>
                  <a:rPr lang="en-US" b="1" dirty="0"/>
                  <a:t>What It Measures:</a:t>
                </a:r>
                <a:r>
                  <a:rPr lang="en-US" dirty="0"/>
                  <a:t> The perceived quality, structure, clarity, and usefulness of the course curriculum itself.</a:t>
                </a:r>
              </a:p>
              <a:p>
                <a:pPr lvl="0"/>
                <a:r>
                  <a:rPr lang="en-US" b="1" dirty="0"/>
                  <a:t>Mathematical Formula:</a:t>
                </a:r>
                <a:endParaRPr lang="en-US" dirty="0"/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/>
                        <m:t>Average Course Rating</m:t>
                      </m:r>
                      <m:r>
                        <a:rPr lang="en-US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/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CourseRating</m:t>
                              </m:r>
                            </m:e>
                          </m:nary>
                        </m:num>
                        <m:den>
                          <m:r>
                            <a:rPr lang="en-US" i="1"/>
                            <m:t>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i="1" dirty="0"/>
                  <a:t>(where </a:t>
                </a:r>
                <a14:m>
                  <m:oMath xmlns:m="http://schemas.openxmlformats.org/officeDocument/2006/math">
                    <m:r>
                      <a:rPr lang="en-US" i="1"/>
                      <m:t>𝑀</m:t>
                    </m:r>
                  </m:oMath>
                </a14:m>
                <a:r>
                  <a:rPr lang="en-US" i="1" dirty="0"/>
                  <a:t>is the total number of courses)</a:t>
                </a:r>
                <a:endParaRPr lang="en-US" dirty="0"/>
              </a:p>
              <a:p>
                <a:pPr lvl="0"/>
                <a:r>
                  <a:rPr lang="en-US" b="1" dirty="0"/>
                  <a:t>Strategic Value:</a:t>
                </a:r>
                <a:r>
                  <a:rPr lang="en-US" dirty="0"/>
                  <a:t> Differentiates content issues from delivery issues. If an instructor has high ratings but their course ratings are low, the curriculum itself may be outdated, poorly structured, or missing key resources.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FB8B4-43A4-7F39-4504-54AE2059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80" y="942971"/>
                <a:ext cx="5182466" cy="3672993"/>
              </a:xfrm>
              <a:prstGeom prst="rect">
                <a:avLst/>
              </a:prstGeom>
              <a:blipFill>
                <a:blip r:embed="rId3"/>
                <a:stretch>
                  <a:fillRect l="-941" t="-997" r="-824" b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39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E08E1C-90E1-8D8A-9EDA-B6A52309DF4B}"/>
                  </a:ext>
                </a:extLst>
              </p:cNvPr>
              <p:cNvSpPr txBox="1"/>
              <p:nvPr/>
            </p:nvSpPr>
            <p:spPr>
              <a:xfrm>
                <a:off x="265471" y="330413"/>
                <a:ext cx="6096000" cy="398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3. Rating Consistency Index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Instructor reliability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What It Measures:</a:t>
                </a:r>
                <a:r>
                  <a:rPr lang="en-US" dirty="0">
                    <a:effectLst/>
                    <a:latin typeface="Google Sans Text"/>
                  </a:rPr>
                  <a:t> How predictably an instructor performs across multiple courses or cohorts over time.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Mathematical Formula:</a:t>
                </a:r>
                <a:r>
                  <a:rPr lang="en-US" dirty="0">
                    <a:effectLst/>
                    <a:latin typeface="Google Sans Text"/>
                  </a:rPr>
                  <a:t> Measured using </a:t>
                </a:r>
                <a:r>
                  <a:rPr lang="en-US" b="1" dirty="0">
                    <a:effectLst/>
                    <a:latin typeface="Google Sans Text"/>
                  </a:rPr>
                  <a:t>Standard Deviation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)</a:t>
                </a:r>
                <a:r>
                  <a:rPr lang="en-US" dirty="0">
                    <a:effectLst/>
                    <a:latin typeface="Google Sans Text"/>
                  </a:rPr>
                  <a:t> or </a:t>
                </a:r>
                <a:r>
                  <a:rPr lang="en-US" b="1" dirty="0">
                    <a:effectLst/>
                    <a:latin typeface="Google Sans Text"/>
                  </a:rPr>
                  <a:t>Variance</a:t>
                </a:r>
                <a:r>
                  <a:rPr lang="en-US" dirty="0">
                    <a:effectLst/>
                    <a:latin typeface="Google Sans Text"/>
                  </a:rPr>
                  <a:t> of an instructor's course ratings: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i="0">
                                                <a:latin typeface="Cambria Math" panose="02040503050406030204" pitchFamily="18" charset="0"/>
                                              </a:rPr>
                                              <m:t>CourseRating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i="1" dirty="0">
                    <a:effectLst/>
                    <a:latin typeface="Google Sans Text"/>
                  </a:rPr>
                  <a:t>(where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>
                    <a:effectLst/>
                    <a:latin typeface="Google Sans Text"/>
                  </a:rPr>
                  <a:t>is the instructor's average rating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i="1" dirty="0">
                    <a:effectLst/>
                    <a:latin typeface="Google Sans Text"/>
                  </a:rPr>
                  <a:t>is the number of courses taught)</a:t>
                </a:r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Value:</a:t>
                </a:r>
                <a:r>
                  <a:rPr lang="en-US" dirty="0">
                    <a:effectLst/>
                    <a:latin typeface="Google Sans Text"/>
                  </a:rPr>
                  <a:t> Lower variance indicates high reliability—meaning students can expect a consistently high-quality experience regardless of which module or course they take with that instructor.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E08E1C-90E1-8D8A-9EDA-B6A52309D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71" y="330413"/>
                <a:ext cx="6096000" cy="3980000"/>
              </a:xfrm>
              <a:prstGeom prst="rect">
                <a:avLst/>
              </a:prstGeom>
              <a:blipFill>
                <a:blip r:embed="rId2"/>
                <a:stretch>
                  <a:fillRect l="-900" t="-766" b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ED2E0F-D836-B1F0-9B70-6AF1BA736603}"/>
                  </a:ext>
                </a:extLst>
              </p:cNvPr>
              <p:cNvSpPr txBox="1"/>
              <p:nvPr/>
            </p:nvSpPr>
            <p:spPr>
              <a:xfrm>
                <a:off x="6361471" y="330413"/>
                <a:ext cx="6096000" cy="4172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4. Experience Impact Score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Value of teaching tenure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What It Measures:</a:t>
                </a:r>
                <a:r>
                  <a:rPr lang="en-US" dirty="0">
                    <a:effectLst/>
                    <a:latin typeface="Google Sans Text"/>
                  </a:rPr>
                  <a:t> The strength and direction of the statistical relationship between an instructor’s years of teaching experience and their performance ratings.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Mathematical Formula:</a:t>
                </a:r>
                <a:r>
                  <a:rPr lang="en-US" dirty="0">
                    <a:effectLst/>
                    <a:latin typeface="Google Sans Text"/>
                  </a:rPr>
                  <a:t> Evaluated using the </a:t>
                </a:r>
                <a:r>
                  <a:rPr lang="en-US" b="1" dirty="0">
                    <a:effectLst/>
                    <a:latin typeface="Google Sans Text"/>
                  </a:rPr>
                  <a:t>Pearson Correlation Coefficient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)</a:t>
                </a:r>
                <a:r>
                  <a:rPr lang="en-US" dirty="0">
                    <a:effectLst/>
                    <a:latin typeface="Google Sans Text"/>
                  </a:rPr>
                  <a:t>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i="1" dirty="0">
                    <a:effectLst/>
                    <a:latin typeface="Google Sans Text"/>
                  </a:rPr>
                  <a:t>(where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YearsOfExperience</m:t>
                    </m:r>
                  </m:oMath>
                </a14:m>
                <a:r>
                  <a:rPr lang="en-US" i="1" dirty="0">
                    <a:effectLst/>
                    <a:latin typeface="Google Sans Text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TeacherRating</m:t>
                    </m:r>
                  </m:oMath>
                </a14:m>
                <a:r>
                  <a:rPr lang="en-US" i="1" dirty="0">
                    <a:effectLst/>
                    <a:latin typeface="Google Sans Text"/>
                  </a:rPr>
                  <a:t>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CourseRating</m:t>
                    </m:r>
                  </m:oMath>
                </a14:m>
                <a:r>
                  <a:rPr lang="en-US" i="1" dirty="0">
                    <a:effectLst/>
                    <a:latin typeface="Google Sans Text"/>
                  </a:rPr>
                  <a:t>)</a:t>
                </a:r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Value:</a:t>
                </a:r>
                <a:r>
                  <a:rPr lang="en-US" dirty="0">
                    <a:effectLst/>
                    <a:latin typeface="Google Sans Text"/>
                  </a:rPr>
                  <a:t> Helps </a:t>
                </a:r>
                <a:r>
                  <a:rPr lang="en-US" dirty="0" err="1">
                    <a:effectLst/>
                    <a:latin typeface="Google Sans Text"/>
                  </a:rPr>
                  <a:t>EduPro</a:t>
                </a:r>
                <a:r>
                  <a:rPr lang="en-US" dirty="0">
                    <a:effectLst/>
                    <a:latin typeface="Google Sans Text"/>
                  </a:rPr>
                  <a:t> determine whether tenure automatically leads to higher course quality, or if teaching effectiveness plateaus after a certain number of years (identifying diminishing returns).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ED2E0F-D836-B1F0-9B70-6AF1BA736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71" y="330413"/>
                <a:ext cx="6096000" cy="4172874"/>
              </a:xfrm>
              <a:prstGeom prst="rect">
                <a:avLst/>
              </a:prstGeom>
              <a:blipFill>
                <a:blip r:embed="rId3"/>
                <a:stretch>
                  <a:fillRect l="-900" t="-730" b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1BD747-A6EF-5ACF-2621-6BB2EEE1F95F}"/>
                  </a:ext>
                </a:extLst>
              </p:cNvPr>
              <p:cNvSpPr txBox="1"/>
              <p:nvPr/>
            </p:nvSpPr>
            <p:spPr>
              <a:xfrm>
                <a:off x="265471" y="4261140"/>
                <a:ext cx="11316928" cy="2484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5. Enrollment Influence Ratio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Description:</a:t>
                </a:r>
                <a:r>
                  <a:rPr lang="en-US" dirty="0">
                    <a:effectLst/>
                    <a:latin typeface="Google Sans Text"/>
                  </a:rPr>
                  <a:t> Instructor-driven demand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What It Measures:</a:t>
                </a:r>
                <a:r>
                  <a:rPr lang="en-US" dirty="0">
                    <a:effectLst/>
                    <a:latin typeface="Google Sans Text"/>
                  </a:rPr>
                  <a:t> The proportion of total platform course enrollments driven specifically by high-performing or top-rated instructors versus standard offerings.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Mathematical Formula:</a:t>
                </a:r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Enrollment Influence Ratio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Transactions for Top−Tier Rated Teachers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Total Platform Transactions</m:t>
                        </m:r>
                      </m:den>
                    </m:f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Value:</a:t>
                </a:r>
                <a:r>
                  <a:rPr lang="en-US" dirty="0">
                    <a:effectLst/>
                    <a:latin typeface="Google Sans Text"/>
                  </a:rPr>
                  <a:t> Quantifies the financial and growth impact of elite instructors. It shows whether an instructor's brand and rating actively pull in revenue and high student volume.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1BD747-A6EF-5ACF-2621-6BB2EEE1F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71" y="4261140"/>
                <a:ext cx="11316928" cy="2484013"/>
              </a:xfrm>
              <a:prstGeom prst="rect">
                <a:avLst/>
              </a:prstGeom>
              <a:blipFill>
                <a:blip r:embed="rId4"/>
                <a:stretch>
                  <a:fillRect l="-485" t="-1229" b="-3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49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56BCA-C27A-2014-4BD1-6346E24F4F0E}"/>
              </a:ext>
            </a:extLst>
          </p:cNvPr>
          <p:cNvSpPr txBox="1"/>
          <p:nvPr/>
        </p:nvSpPr>
        <p:spPr>
          <a:xfrm>
            <a:off x="216310" y="111761"/>
            <a:ext cx="12054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Key Analytical Questions &amp; Investigation Framework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4B1C4A-06D7-D9DD-9638-37245C78AD97}"/>
                  </a:ext>
                </a:extLst>
              </p:cNvPr>
              <p:cNvSpPr txBox="1"/>
              <p:nvPr/>
            </p:nvSpPr>
            <p:spPr>
              <a:xfrm>
                <a:off x="285135" y="814491"/>
                <a:ext cx="5810865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1. What is the overall distribution of instructor ratings?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Analytical Objective:</a:t>
                </a:r>
                <a:r>
                  <a:rPr lang="en-US" dirty="0">
                    <a:effectLst/>
                    <a:latin typeface="Google Sans Text"/>
                  </a:rPr>
                  <a:t> Examine the spread, central tendency, and variance of </a:t>
                </a:r>
                <a:r>
                  <a:rPr lang="en-US" dirty="0" err="1">
                    <a:effectLst/>
                    <a:latin typeface="Google Sans Text"/>
                  </a:rPr>
                  <a:t>TeacherRating</a:t>
                </a:r>
                <a:r>
                  <a:rPr lang="en-US" dirty="0">
                    <a:effectLst/>
                    <a:latin typeface="Google Sans Text"/>
                  </a:rPr>
                  <a:t> across the </a:t>
                </a:r>
                <a:r>
                  <a:rPr lang="en-US" dirty="0" err="1">
                    <a:effectLst/>
                    <a:latin typeface="Google Sans Text"/>
                  </a:rPr>
                  <a:t>EduPro</a:t>
                </a:r>
                <a:r>
                  <a:rPr lang="en-US" dirty="0">
                    <a:effectLst/>
                    <a:latin typeface="Google Sans Text"/>
                  </a:rPr>
                  <a:t> instructor base.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Methodology:</a:t>
                </a:r>
                <a:endParaRPr lang="en-US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Construct frequency histograms and kernel density estimations (KDE) for </a:t>
                </a:r>
                <a:r>
                  <a:rPr lang="en-US" dirty="0" err="1">
                    <a:effectLst/>
                    <a:latin typeface="Google Sans Text"/>
                  </a:rPr>
                  <a:t>TeacherRating</a:t>
                </a:r>
                <a:r>
                  <a:rPr lang="en-US" dirty="0">
                    <a:effectLst/>
                    <a:latin typeface="Google Sans Text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Calculate summary statistics: Mean, Median, Variance, and Standard Deviation.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Segment instructors into performance tiers:</a:t>
                </a: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Top Tier: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TeacherRating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≥4.5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Mid Tier: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3.5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TeacherRating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&lt;4.5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Low Tier:</a:t>
                </a:r>
                <a:r>
                  <a:rPr lang="en-US" dirty="0"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TeacherRating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&lt;3.5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Insights:</a:t>
                </a:r>
                <a:r>
                  <a:rPr lang="en-US" dirty="0">
                    <a:effectLst/>
                    <a:latin typeface="Google Sans Text"/>
                  </a:rPr>
                  <a:t> Identifies whether ratings are skewed toward high scores (a common pattern in online platforms) or if clear performance differentiation exists to guide quality control.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4B1C4A-06D7-D9DD-9638-37245C78A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35" y="814491"/>
                <a:ext cx="5810865" cy="4801314"/>
              </a:xfrm>
              <a:prstGeom prst="rect">
                <a:avLst/>
              </a:prstGeom>
              <a:blipFill>
                <a:blip r:embed="rId2"/>
                <a:stretch>
                  <a:fillRect l="-944" t="-762" r="-315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FCA8CB-2613-AFA3-CFEB-357A81C0246B}"/>
                  </a:ext>
                </a:extLst>
              </p:cNvPr>
              <p:cNvSpPr txBox="1"/>
              <p:nvPr/>
            </p:nvSpPr>
            <p:spPr>
              <a:xfrm>
                <a:off x="6420463" y="814491"/>
                <a:ext cx="5397909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effectLst/>
                    <a:latin typeface="Google Sans"/>
                  </a:rPr>
                  <a:t>2. Do instructors with more experience receive higher ratings?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Analytical Objective:</a:t>
                </a:r>
                <a:r>
                  <a:rPr lang="en-US" dirty="0">
                    <a:effectLst/>
                    <a:latin typeface="Google Sans Text"/>
                  </a:rPr>
                  <a:t> Determine whether teaching tenure (</a:t>
                </a:r>
                <a:r>
                  <a:rPr lang="en-US" dirty="0" err="1">
                    <a:effectLst/>
                    <a:latin typeface="Google Sans Text"/>
                  </a:rPr>
                  <a:t>YearsOfExperience</a:t>
                </a:r>
                <a:r>
                  <a:rPr lang="en-US" dirty="0">
                    <a:effectLst/>
                    <a:latin typeface="Google Sans Text"/>
                  </a:rPr>
                  <a:t>) directly correlates with higher </a:t>
                </a:r>
                <a:r>
                  <a:rPr lang="en-US" dirty="0" err="1">
                    <a:effectLst/>
                    <a:latin typeface="Google Sans Text"/>
                  </a:rPr>
                  <a:t>TeacherRating</a:t>
                </a:r>
                <a:r>
                  <a:rPr lang="en-US" dirty="0">
                    <a:effectLst/>
                    <a:latin typeface="Google Sans Text"/>
                  </a:rPr>
                  <a:t> or </a:t>
                </a:r>
                <a:r>
                  <a:rPr lang="en-US" dirty="0" err="1">
                    <a:effectLst/>
                    <a:latin typeface="Google Sans Text"/>
                  </a:rPr>
                  <a:t>CourseRating</a:t>
                </a:r>
                <a:r>
                  <a:rPr lang="en-US" dirty="0">
                    <a:effectLst/>
                    <a:latin typeface="Google Sans Text"/>
                  </a:rPr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Methodology:</a:t>
                </a:r>
                <a:endParaRPr lang="en-US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Compute </a:t>
                </a:r>
                <a:r>
                  <a:rPr lang="en-US" b="1" dirty="0">
                    <a:effectLst/>
                    <a:latin typeface="Google Sans Text"/>
                  </a:rPr>
                  <a:t>Pearson Correlation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)</a:t>
                </a:r>
                <a:r>
                  <a:rPr lang="en-US" dirty="0">
                    <a:effectLst/>
                    <a:latin typeface="Google Sans Text"/>
                  </a:rPr>
                  <a:t> and </a:t>
                </a:r>
                <a:r>
                  <a:rPr lang="en-US" b="1" dirty="0">
                    <a:effectLst/>
                    <a:latin typeface="Google Sans Text"/>
                  </a:rPr>
                  <a:t>Spearman Rank Correlation</a:t>
                </a:r>
                <a:r>
                  <a:rPr lang="en-US" dirty="0">
                    <a:effectLst/>
                    <a:latin typeface="Google Sans Text"/>
                  </a:rPr>
                  <a:t> between tenure and rating variables.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Scatter plot analysis with fitted regression trendlines to detect non-linear patterns.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  <a:latin typeface="Google Sans Text"/>
                  </a:rPr>
                  <a:t>Evaluate potential </a:t>
                </a:r>
                <a:r>
                  <a:rPr lang="en-US" b="1" dirty="0">
                    <a:effectLst/>
                    <a:latin typeface="Google Sans Text"/>
                  </a:rPr>
                  <a:t>diminishing returns</a:t>
                </a:r>
                <a:r>
                  <a:rPr lang="en-US" dirty="0">
                    <a:effectLst/>
                    <a:latin typeface="Google Sans Text"/>
                  </a:rPr>
                  <a:t> (e.g., assessing if teaching performance plateaus or degrades after 5–10 years).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Strategic Insights:</a:t>
                </a:r>
                <a:r>
                  <a:rPr lang="en-US" dirty="0">
                    <a:effectLst/>
                    <a:latin typeface="Google Sans Text"/>
                  </a:rPr>
                  <a:t> Informs platform hiring criteria, tenure-based compensation models, and professional development programs.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FCA8CB-2613-AFA3-CFEB-357A81C02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463" y="814491"/>
                <a:ext cx="5397909" cy="4801314"/>
              </a:xfrm>
              <a:prstGeom prst="rect">
                <a:avLst/>
              </a:prstGeom>
              <a:blipFill>
                <a:blip r:embed="rId3"/>
                <a:stretch>
                  <a:fillRect l="-903" t="-762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71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804931-7055-470C-2F6A-A2B9B3906A6B}"/>
              </a:ext>
            </a:extLst>
          </p:cNvPr>
          <p:cNvSpPr txBox="1"/>
          <p:nvPr/>
        </p:nvSpPr>
        <p:spPr>
          <a:xfrm>
            <a:off x="245807" y="432729"/>
            <a:ext cx="58501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Is there a relationship between </a:t>
            </a:r>
            <a:r>
              <a:rPr lang="en-US" b="1" dirty="0" err="1">
                <a:latin typeface="Courier New" panose="02070309020205020404" pitchFamily="49" charset="0"/>
              </a:rPr>
              <a:t>TeacherRating</a:t>
            </a:r>
            <a:r>
              <a:rPr lang="en-US" b="1" dirty="0"/>
              <a:t> and </a:t>
            </a:r>
            <a:r>
              <a:rPr lang="en-US" b="1" dirty="0" err="1">
                <a:latin typeface="Courier New" panose="02070309020205020404" pitchFamily="49" charset="0"/>
              </a:rPr>
              <a:t>CourseRating</a:t>
            </a:r>
            <a:r>
              <a:rPr lang="en-US" b="1" dirty="0" err="1"/>
              <a:t>alignment</a:t>
            </a:r>
            <a:r>
              <a:rPr lang="en-US" b="1" dirty="0"/>
              <a:t>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Analytical Objective:</a:t>
            </a:r>
            <a:r>
              <a:rPr lang="en-US" dirty="0"/>
              <a:t> Understand if high instructor ratings translate directly to high course quality ratings, or if course content issues exist independently of teaching effectiveness.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Methodology: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Bivariate regression and correlation analysis between </a:t>
            </a:r>
            <a:r>
              <a:rPr lang="en-US" dirty="0" err="1">
                <a:latin typeface="Courier New" panose="02070309020205020404" pitchFamily="49" charset="0"/>
              </a:rPr>
              <a:t>TeacherRating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</a:rPr>
              <a:t>CourseRating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Residual analysis to highlight outlier courses (e.g., highly rated teachers with poorly rated course materials, or vice versa).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Strategic Insights:</a:t>
            </a:r>
            <a:r>
              <a:rPr lang="en-US" dirty="0"/>
              <a:t> Helps isolate whether course dissatisfaction stems from </a:t>
            </a:r>
            <a:r>
              <a:rPr lang="en-US" b="1" dirty="0"/>
              <a:t>pedagogy</a:t>
            </a:r>
            <a:r>
              <a:rPr lang="en-US" dirty="0"/>
              <a:t> (instructor delivery) or </a:t>
            </a:r>
            <a:r>
              <a:rPr lang="en-US" b="1" dirty="0"/>
              <a:t>curriculum</a:t>
            </a:r>
            <a:r>
              <a:rPr lang="en-US" dirty="0"/>
              <a:t> (course structure, materials, and difficulty).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67D71-9D38-3234-31DC-45902C824E74}"/>
              </a:ext>
            </a:extLst>
          </p:cNvPr>
          <p:cNvSpPr txBox="1"/>
          <p:nvPr/>
        </p:nvSpPr>
        <p:spPr>
          <a:xfrm>
            <a:off x="6243483" y="352375"/>
            <a:ext cx="545690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Which expertise areas consistently deliver high-quality courses?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Analytical Objective:</a:t>
            </a:r>
            <a:r>
              <a:rPr lang="en-US" dirty="0"/>
              <a:t> Compare average ratings, consistency, and overall quality across different subject domains (</a:t>
            </a:r>
            <a:r>
              <a:rPr lang="en-US" dirty="0">
                <a:latin typeface="Courier New" panose="02070309020205020404" pitchFamily="49" charset="0"/>
              </a:rPr>
              <a:t>Expertise</a:t>
            </a:r>
            <a:r>
              <a:rPr lang="en-US" dirty="0"/>
              <a:t>) and </a:t>
            </a:r>
            <a:r>
              <a:rPr lang="en-US" dirty="0" err="1">
                <a:latin typeface="Courier New" panose="02070309020205020404" pitchFamily="49" charset="0"/>
              </a:rPr>
              <a:t>CourseCategory</a:t>
            </a:r>
            <a:r>
              <a:rPr lang="en-US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Methodology: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Aggregated grouping of </a:t>
            </a:r>
            <a:r>
              <a:rPr lang="en-US" dirty="0" err="1">
                <a:latin typeface="Courier New" panose="02070309020205020404" pitchFamily="49" charset="0"/>
              </a:rPr>
              <a:t>CourseRating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</a:rPr>
              <a:t>TeacherRating</a:t>
            </a:r>
            <a:r>
              <a:rPr lang="en-US" dirty="0"/>
              <a:t> by </a:t>
            </a:r>
            <a:r>
              <a:rPr lang="en-US" dirty="0">
                <a:latin typeface="Courier New" panose="02070309020205020404" pitchFamily="49" charset="0"/>
              </a:rPr>
              <a:t>Expertise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</a:rPr>
              <a:t>CourseLevel</a:t>
            </a:r>
            <a:r>
              <a:rPr lang="en-US" dirty="0"/>
              <a:t> (Beginner, Intermediate, Advanced).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Heatmap visualization mapping domain expertise against course ratings.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Calculate the </a:t>
            </a:r>
            <a:r>
              <a:rPr lang="en-US" b="1" dirty="0"/>
              <a:t>Rating Consistency Index</a:t>
            </a:r>
            <a:r>
              <a:rPr lang="en-US" dirty="0"/>
              <a:t> (Standard Deviation) per domain.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Strategic Insights:</a:t>
            </a:r>
            <a:r>
              <a:rPr lang="en-US" dirty="0"/>
              <a:t> Highlights high-performing domains to model best practices after, while identifying expertise gaps requiring targeted instructional mentorship or course revamps.</a:t>
            </a:r>
          </a:p>
        </p:txBody>
      </p:sp>
    </p:spTree>
    <p:extLst>
      <p:ext uri="{BB962C8B-B14F-4D97-AF65-F5344CB8AC3E}">
        <p14:creationId xmlns:p14="http://schemas.microsoft.com/office/powerpoint/2010/main" val="429025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3E2EF-FD67-5320-15DD-DA2A50D8F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83" y="589935"/>
            <a:ext cx="11161122" cy="523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4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709B79-1864-DD61-B7AF-95584DAE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75" y="868458"/>
            <a:ext cx="10714649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9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3A4EA-6AAA-9407-49C3-7ECC138F7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2" y="639838"/>
            <a:ext cx="11027096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25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5674B3-E357-B328-C0A9-FA4303BEBCC3}"/>
              </a:ext>
            </a:extLst>
          </p:cNvPr>
          <p:cNvSpPr txBox="1"/>
          <p:nvPr/>
        </p:nvSpPr>
        <p:spPr>
          <a:xfrm>
            <a:off x="5260258" y="3854245"/>
            <a:ext cx="2767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785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4958</TotalTime>
  <Words>1148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Bahnschrift SemiBold Condensed</vt:lpstr>
      <vt:lpstr>Calibri</vt:lpstr>
      <vt:lpstr>Cambria Math</vt:lpstr>
      <vt:lpstr>Courier New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Muskan Sharma</cp:lastModifiedBy>
  <cp:revision>17</cp:revision>
  <dcterms:created xsi:type="dcterms:W3CDTF">2013-01-27T09:14:16Z</dcterms:created>
  <dcterms:modified xsi:type="dcterms:W3CDTF">2026-08-08T09:05:30Z</dcterms:modified>
  <cp:category/>
</cp:coreProperties>
</file>