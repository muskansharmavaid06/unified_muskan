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9" r:id="rId4"/>
    <p:sldId id="261" r:id="rId5"/>
    <p:sldId id="262" r:id="rId6"/>
    <p:sldId id="263" r:id="rId7"/>
    <p:sldId id="267" r:id="rId8"/>
    <p:sldId id="266" r:id="rId9"/>
    <p:sldId id="265"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8" d="100"/>
          <a:sy n="78" d="100"/>
        </p:scale>
        <p:origin x="850"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A365D"/>
        </a:solidFill>
        <a:effectLst/>
      </p:bgPr>
    </p:bg>
    <p:spTree>
      <p:nvGrpSpPr>
        <p:cNvPr id="1" name=""/>
        <p:cNvGrpSpPr/>
        <p:nvPr/>
      </p:nvGrpSpPr>
      <p:grpSpPr>
        <a:xfrm>
          <a:off x="0" y="0"/>
          <a:ext cx="0" cy="0"/>
          <a:chOff x="0" y="0"/>
          <a:chExt cx="0" cy="0"/>
        </a:xfrm>
      </p:grpSpPr>
      <p:sp>
        <p:nvSpPr>
          <p:cNvPr id="2" name="Rectangle 1"/>
          <p:cNvSpPr/>
          <p:nvPr/>
        </p:nvSpPr>
        <p:spPr>
          <a:xfrm>
            <a:off x="166255" y="140277"/>
            <a:ext cx="11752118" cy="6577445"/>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097280" y="2245628"/>
            <a:ext cx="10286790" cy="2190343"/>
          </a:xfrm>
          <a:prstGeom prst="rect">
            <a:avLst/>
          </a:prstGeom>
          <a:noFill/>
        </p:spPr>
        <p:txBody>
          <a:bodyPr wrap="none">
            <a:spAutoFit/>
          </a:bodyPr>
          <a:lstStyle/>
          <a:p>
            <a:r>
              <a:rPr lang="en-US" sz="3200" dirty="0">
                <a:latin typeface="Bahnschrift SemiBold Condensed" panose="020B0502040204020203" pitchFamily="34" charset="0"/>
              </a:rPr>
              <a:t>PREDICTIVE MODELING FOR COURSE DEMAND AND REVENUE FORECASTING ON </a:t>
            </a:r>
            <a:br>
              <a:rPr lang="en-US" sz="3200" dirty="0">
                <a:latin typeface="Bahnschrift SemiBold Condensed" panose="020B0502040204020203" pitchFamily="34" charset="0"/>
              </a:rPr>
            </a:br>
            <a:r>
              <a:rPr lang="en-US" sz="3200" dirty="0">
                <a:latin typeface="Bahnschrift SemiBold Condensed" panose="020B0502040204020203" pitchFamily="34" charset="0"/>
              </a:rPr>
              <a:t>EDUPRO</a:t>
            </a:r>
          </a:p>
          <a:p>
            <a:endParaRPr lang="en-US" sz="3200" b="1" dirty="0">
              <a:latin typeface="Bahnschrift SemiBold Condensed" panose="020B0502040204020203" pitchFamily="34" charset="0"/>
            </a:endParaRPr>
          </a:p>
          <a:p>
            <a:pPr>
              <a:spcBef>
                <a:spcPts val="1000"/>
              </a:spcBef>
              <a:defRPr sz="2000">
                <a:solidFill>
                  <a:srgbClr val="3182CE"/>
                </a:solidFill>
              </a:defRPr>
            </a:pPr>
            <a:endParaRPr sz="3200" dirty="0">
              <a:latin typeface="Bahnschrift SemiBold Condensed" panose="020B0502040204020203" pitchFamily="34" charset="0"/>
            </a:endParaRPr>
          </a:p>
        </p:txBody>
      </p:sp>
      <p:sp>
        <p:nvSpPr>
          <p:cNvPr id="4" name="TextBox 3"/>
          <p:cNvSpPr txBox="1"/>
          <p:nvPr/>
        </p:nvSpPr>
        <p:spPr>
          <a:xfrm>
            <a:off x="1097280" y="5728281"/>
            <a:ext cx="1904752" cy="830997"/>
          </a:xfrm>
          <a:prstGeom prst="rect">
            <a:avLst/>
          </a:prstGeom>
          <a:noFill/>
        </p:spPr>
        <p:txBody>
          <a:bodyPr wrap="none">
            <a:spAutoFit/>
          </a:bodyPr>
          <a:lstStyle/>
          <a:p>
            <a:pPr>
              <a:defRPr sz="1400">
                <a:solidFill>
                  <a:srgbClr val="2D3748"/>
                </a:solidFill>
              </a:defRPr>
            </a:pPr>
            <a:r>
              <a:rPr lang="en-US" sz="2000" b="1" dirty="0"/>
              <a:t>Muskan Sharma</a:t>
            </a:r>
          </a:p>
          <a:p>
            <a:pPr>
              <a:defRPr sz="1400">
                <a:solidFill>
                  <a:srgbClr val="2D3748"/>
                </a:solidFill>
              </a:defRPr>
            </a:pPr>
            <a:endParaRPr sz="2800" b="1" dirty="0"/>
          </a:p>
        </p:txBody>
      </p:sp>
      <p:pic>
        <p:nvPicPr>
          <p:cNvPr id="8" name="Picture 7">
            <a:extLst>
              <a:ext uri="{FF2B5EF4-FFF2-40B4-BE49-F238E27FC236}">
                <a16:creationId xmlns:a16="http://schemas.microsoft.com/office/drawing/2014/main" id="{7FDE1D4C-289F-03B9-55CA-1E2BBCF31EF7}"/>
              </a:ext>
            </a:extLst>
          </p:cNvPr>
          <p:cNvPicPr>
            <a:picLocks noChangeAspect="1"/>
          </p:cNvPicPr>
          <p:nvPr/>
        </p:nvPicPr>
        <p:blipFill>
          <a:blip r:embed="rId2"/>
          <a:stretch>
            <a:fillRect/>
          </a:stretch>
        </p:blipFill>
        <p:spPr>
          <a:xfrm>
            <a:off x="1097280" y="6044089"/>
            <a:ext cx="1463167" cy="39627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058400" cy="365760"/>
          </a:xfrm>
          <a:prstGeom prst="rect">
            <a:avLst/>
          </a:prstGeom>
          <a:noFill/>
        </p:spPr>
        <p:txBody>
          <a:bodyPr wrap="none">
            <a:spAutoFit/>
          </a:bodyPr>
          <a:lstStyle/>
          <a:p>
            <a:pPr>
              <a:defRPr sz="1000" b="1">
                <a:solidFill>
                  <a:srgbClr val="3182CE"/>
                </a:solidFill>
              </a:defRPr>
            </a:pPr>
            <a:r>
              <a:rPr dirty="0"/>
              <a:t>RESEARCH PAPER PRESENTATION</a:t>
            </a:r>
          </a:p>
        </p:txBody>
      </p:sp>
      <p:sp>
        <p:nvSpPr>
          <p:cNvPr id="3" name="TextBox 2"/>
          <p:cNvSpPr txBox="1"/>
          <p:nvPr/>
        </p:nvSpPr>
        <p:spPr>
          <a:xfrm>
            <a:off x="731520" y="640080"/>
            <a:ext cx="3943772" cy="492443"/>
          </a:xfrm>
          <a:prstGeom prst="rect">
            <a:avLst/>
          </a:prstGeom>
          <a:noFill/>
        </p:spPr>
        <p:txBody>
          <a:bodyPr wrap="none">
            <a:spAutoFit/>
          </a:bodyPr>
          <a:lstStyle/>
          <a:p>
            <a:pPr>
              <a:defRPr sz="2600" b="1">
                <a:solidFill>
                  <a:srgbClr val="1A365D"/>
                </a:solidFill>
              </a:defRPr>
            </a:pPr>
            <a:r>
              <a:rPr lang="en-US" sz="2600" b="1" dirty="0"/>
              <a:t>Introduction &amp; Background</a:t>
            </a:r>
            <a:endParaRPr dirty="0"/>
          </a:p>
        </p:txBody>
      </p:sp>
      <p:sp>
        <p:nvSpPr>
          <p:cNvPr id="4" name="Rounded Rectangle 3"/>
          <p:cNvSpPr/>
          <p:nvPr/>
        </p:nvSpPr>
        <p:spPr>
          <a:xfrm>
            <a:off x="731519" y="1132523"/>
            <a:ext cx="10989425" cy="4902517"/>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lvl="0"/>
            <a:r>
              <a:rPr lang="en-US" b="1" dirty="0"/>
              <a:t>Engagement Profiling:</a:t>
            </a:r>
            <a:r>
              <a:rPr lang="en-US" dirty="0"/>
              <a:t> Categorizes customers into key behavioral segments (e.g., </a:t>
            </a:r>
            <a:r>
              <a:rPr lang="en-US" i="1" dirty="0"/>
              <a:t>Active Engaged</a:t>
            </a:r>
            <a:r>
              <a:rPr lang="en-US" dirty="0"/>
              <a:t>, </a:t>
            </a:r>
            <a:r>
              <a:rPr lang="en-US" i="1" dirty="0"/>
              <a:t>Inactive Disengaged</a:t>
            </a:r>
            <a:r>
              <a:rPr lang="en-US" dirty="0"/>
              <a:t>, </a:t>
            </a:r>
            <a:r>
              <a:rPr lang="en-US" i="1" dirty="0"/>
              <a:t>Active Low-Product</a:t>
            </a:r>
            <a:r>
              <a:rPr lang="en-US" dirty="0"/>
              <a:t>, and </a:t>
            </a:r>
            <a:r>
              <a:rPr lang="en-US" i="1" dirty="0"/>
              <a:t>Inactive High-Balance</a:t>
            </a:r>
            <a:r>
              <a:rPr lang="en-US" dirty="0"/>
              <a:t>).</a:t>
            </a:r>
          </a:p>
          <a:p>
            <a:pPr lvl="0"/>
            <a:r>
              <a:rPr lang="en-US" b="1" dirty="0"/>
              <a:t>Product Utilization Analysis:</a:t>
            </a:r>
            <a:r>
              <a:rPr lang="en-US" dirty="0"/>
              <a:t> Examines how relationship depth (holding 1 vs. multiple bank products) impacts churn and customer retention.</a:t>
            </a:r>
          </a:p>
          <a:p>
            <a:pPr lvl="0"/>
            <a:r>
              <a:rPr lang="en-US" b="1" dirty="0"/>
              <a:t>Financial Commitment vs. Activity:</a:t>
            </a:r>
            <a:r>
              <a:rPr lang="en-US" dirty="0"/>
              <a:t> Identifies </a:t>
            </a:r>
            <a:r>
              <a:rPr lang="en-US" b="1" dirty="0"/>
              <a:t>"At-Risk Premium Customers"</a:t>
            </a:r>
            <a:r>
              <a:rPr lang="en-US" dirty="0"/>
              <a:t>—high-balance account holders who are inactive and single-product users, making them vulnerable to silent churn.</a:t>
            </a:r>
          </a:p>
          <a:p>
            <a:pPr lvl="0"/>
            <a:r>
              <a:rPr lang="en-US" b="1" dirty="0"/>
              <a:t>Retention Strength &amp; KPIs:</a:t>
            </a:r>
            <a:r>
              <a:rPr lang="en-US" dirty="0"/>
              <a:t> Tracks key metrics such as </a:t>
            </a:r>
            <a:r>
              <a:rPr lang="en-US" i="1" dirty="0"/>
              <a:t>Engagement Retention Ratio</a:t>
            </a:r>
            <a:r>
              <a:rPr lang="en-US" dirty="0"/>
              <a:t>, </a:t>
            </a:r>
            <a:r>
              <a:rPr lang="en-US" i="1" dirty="0"/>
              <a:t>Product Depth Index</a:t>
            </a:r>
            <a:r>
              <a:rPr lang="en-US" dirty="0"/>
              <a:t>, </a:t>
            </a:r>
            <a:r>
              <a:rPr lang="en-US" i="1" dirty="0"/>
              <a:t>High-Balance Disengagement Rate</a:t>
            </a:r>
            <a:r>
              <a:rPr lang="en-US" dirty="0"/>
              <a:t>, and </a:t>
            </a:r>
            <a:r>
              <a:rPr lang="en-US" i="1" dirty="0"/>
              <a:t>Relationship Strength Index</a:t>
            </a:r>
            <a:r>
              <a:rPr lang="en-US" dirty="0"/>
              <a:t> to measure overall account loyalty.</a:t>
            </a:r>
          </a:p>
          <a:p>
            <a:pPr lvl="0"/>
            <a:r>
              <a:rPr lang="en-US" b="1" dirty="0"/>
              <a:t>Interactive </a:t>
            </a:r>
            <a:r>
              <a:rPr lang="en-US" b="1" dirty="0" err="1"/>
              <a:t>Streamlit</a:t>
            </a:r>
            <a:r>
              <a:rPr lang="en-US" b="1" dirty="0"/>
              <a:t> Web App:</a:t>
            </a:r>
            <a:r>
              <a:rPr lang="en-US" dirty="0"/>
              <a:t> A dynamic analytics platform allowing stakeholders to filter by geography, product counts, active status, and financial thresholds to explore churn drivers in real time.</a:t>
            </a:r>
          </a:p>
        </p:txBody>
      </p:sp>
      <p:sp>
        <p:nvSpPr>
          <p:cNvPr id="5" name="TextBox 4"/>
          <p:cNvSpPr txBox="1"/>
          <p:nvPr/>
        </p:nvSpPr>
        <p:spPr>
          <a:xfrm>
            <a:off x="998910" y="1321623"/>
            <a:ext cx="10454641" cy="3416320"/>
          </a:xfrm>
          <a:prstGeom prst="rect">
            <a:avLst/>
          </a:prstGeom>
          <a:noFill/>
        </p:spPr>
        <p:txBody>
          <a:bodyPr wrap="square">
            <a:spAutoFit/>
          </a:bodyPr>
          <a:lstStyle/>
          <a:p>
            <a:endParaRPr lang="en-US" dirty="0"/>
          </a:p>
          <a:p>
            <a:endParaRPr lang="en-US" dirty="0"/>
          </a:p>
          <a:p>
            <a:r>
              <a:rPr lang="en-US" dirty="0" err="1"/>
              <a:t>EduPro</a:t>
            </a:r>
            <a:r>
              <a:rPr lang="en-US" dirty="0"/>
              <a:t> is an online learning platform currently relying on historical intuition rather than quantitative forecasts to make core business decisions—such as launching new courses, adjusting pricing, and onboarding instructors. This lack of predictive visibility increases financial and operational risk.</a:t>
            </a:r>
          </a:p>
          <a:p>
            <a:br>
              <a:rPr lang="en-US" dirty="0"/>
            </a:br>
            <a:endParaRPr lang="en-US" dirty="0"/>
          </a:p>
          <a:p>
            <a:r>
              <a:rPr lang="en-US" b="1" dirty="0"/>
              <a:t>Introduction</a:t>
            </a:r>
          </a:p>
          <a:p>
            <a:r>
              <a:rPr lang="en-US" dirty="0"/>
              <a:t>To move </a:t>
            </a:r>
            <a:r>
              <a:rPr lang="en-US" dirty="0" err="1"/>
              <a:t>EduPro</a:t>
            </a:r>
            <a:r>
              <a:rPr lang="en-US" dirty="0"/>
              <a:t> from </a:t>
            </a:r>
            <a:r>
              <a:rPr lang="en-US" b="1" dirty="0"/>
              <a:t>reactive reporting to proactive planning</a:t>
            </a:r>
            <a:r>
              <a:rPr lang="en-US" dirty="0"/>
              <a:t>, this project implements predictive machine learning models to forecast </a:t>
            </a:r>
            <a:r>
              <a:rPr lang="en-US" b="1" dirty="0"/>
              <a:t>course demand (enrollment counts)</a:t>
            </a:r>
            <a:r>
              <a:rPr lang="en-US" dirty="0"/>
              <a:t> and </a:t>
            </a:r>
            <a:r>
              <a:rPr lang="en-US" b="1" dirty="0"/>
              <a:t>revenue</a:t>
            </a:r>
            <a:r>
              <a:rPr lang="en-US" dirty="0"/>
              <a:t> at both the individual course and category levels. By analyzing multi-dimensional historical data (courses, instructors, and transactions), the project delivers data-driven insights to optimize content roadmaps, pricing strategy, and resource allocation.</a:t>
            </a:r>
          </a:p>
        </p:txBody>
      </p:sp>
      <p:sp>
        <p:nvSpPr>
          <p:cNvPr id="7" name="TextBox 6"/>
          <p:cNvSpPr txBox="1"/>
          <p:nvPr/>
        </p:nvSpPr>
        <p:spPr>
          <a:xfrm>
            <a:off x="6492240" y="1828800"/>
            <a:ext cx="4663440" cy="369332"/>
          </a:xfrm>
          <a:prstGeom prst="rect">
            <a:avLst/>
          </a:prstGeom>
          <a:noFill/>
        </p:spPr>
        <p:txBody>
          <a:bodyPr wrap="square">
            <a:spAutoFit/>
          </a:bodyPr>
          <a:lstStyle/>
          <a:p>
            <a:pPr>
              <a:defRPr sz="1800" b="1">
                <a:solidFill>
                  <a:srgbClr val="1A365D"/>
                </a:solidFill>
              </a:defRPr>
            </a:pP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354FA04-2AB7-7F25-543B-BF82DD2AE421}"/>
              </a:ext>
            </a:extLst>
          </p:cNvPr>
          <p:cNvPicPr>
            <a:picLocks noChangeAspect="1"/>
          </p:cNvPicPr>
          <p:nvPr/>
        </p:nvPicPr>
        <p:blipFill>
          <a:blip r:embed="rId2"/>
          <a:stretch>
            <a:fillRect/>
          </a:stretch>
        </p:blipFill>
        <p:spPr>
          <a:xfrm>
            <a:off x="442452" y="471948"/>
            <a:ext cx="11749548" cy="5010109"/>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66460DA-76F9-E6DC-091E-6CD6C0814A5B}"/>
              </a:ext>
            </a:extLst>
          </p:cNvPr>
          <p:cNvPicPr>
            <a:picLocks noChangeAspect="1"/>
          </p:cNvPicPr>
          <p:nvPr/>
        </p:nvPicPr>
        <p:blipFill>
          <a:blip r:embed="rId2"/>
          <a:stretch>
            <a:fillRect/>
          </a:stretch>
        </p:blipFill>
        <p:spPr>
          <a:xfrm>
            <a:off x="373624" y="942854"/>
            <a:ext cx="11149781" cy="4972292"/>
          </a:xfrm>
          <a:prstGeom prst="rect">
            <a:avLst/>
          </a:prstGeom>
        </p:spPr>
      </p:pic>
    </p:spTree>
    <p:extLst>
      <p:ext uri="{BB962C8B-B14F-4D97-AF65-F5344CB8AC3E}">
        <p14:creationId xmlns:p14="http://schemas.microsoft.com/office/powerpoint/2010/main" val="15453250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20F3A3F-43B1-4A7D-C6BD-B066954717BD}"/>
              </a:ext>
            </a:extLst>
          </p:cNvPr>
          <p:cNvPicPr>
            <a:picLocks noChangeAspect="1"/>
          </p:cNvPicPr>
          <p:nvPr/>
        </p:nvPicPr>
        <p:blipFill>
          <a:blip r:embed="rId2"/>
          <a:stretch>
            <a:fillRect/>
          </a:stretch>
        </p:blipFill>
        <p:spPr>
          <a:xfrm>
            <a:off x="412955" y="855133"/>
            <a:ext cx="11366090" cy="5147734"/>
          </a:xfrm>
          <a:prstGeom prst="rect">
            <a:avLst/>
          </a:prstGeom>
        </p:spPr>
      </p:pic>
    </p:spTree>
    <p:extLst>
      <p:ext uri="{BB962C8B-B14F-4D97-AF65-F5344CB8AC3E}">
        <p14:creationId xmlns:p14="http://schemas.microsoft.com/office/powerpoint/2010/main" val="9872120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7D21B60-9B7A-6555-9E3F-24BC8A42824E}"/>
              </a:ext>
            </a:extLst>
          </p:cNvPr>
          <p:cNvPicPr>
            <a:picLocks noChangeAspect="1"/>
          </p:cNvPicPr>
          <p:nvPr/>
        </p:nvPicPr>
        <p:blipFill>
          <a:blip r:embed="rId2"/>
          <a:stretch>
            <a:fillRect/>
          </a:stretch>
        </p:blipFill>
        <p:spPr>
          <a:xfrm>
            <a:off x="422787" y="1017435"/>
            <a:ext cx="11002298" cy="4823129"/>
          </a:xfrm>
          <a:prstGeom prst="rect">
            <a:avLst/>
          </a:prstGeom>
        </p:spPr>
      </p:pic>
    </p:spTree>
    <p:extLst>
      <p:ext uri="{BB962C8B-B14F-4D97-AF65-F5344CB8AC3E}">
        <p14:creationId xmlns:p14="http://schemas.microsoft.com/office/powerpoint/2010/main" val="42400682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A80AE13-F202-0EAE-9F25-E7389BFE27B7}"/>
              </a:ext>
            </a:extLst>
          </p:cNvPr>
          <p:cNvPicPr>
            <a:picLocks noChangeAspect="1"/>
          </p:cNvPicPr>
          <p:nvPr/>
        </p:nvPicPr>
        <p:blipFill>
          <a:blip r:embed="rId2"/>
          <a:stretch>
            <a:fillRect/>
          </a:stretch>
        </p:blipFill>
        <p:spPr>
          <a:xfrm>
            <a:off x="0" y="1140806"/>
            <a:ext cx="12192000" cy="4576387"/>
          </a:xfrm>
          <a:prstGeom prst="rect">
            <a:avLst/>
          </a:prstGeom>
        </p:spPr>
      </p:pic>
    </p:spTree>
    <p:extLst>
      <p:ext uri="{BB962C8B-B14F-4D97-AF65-F5344CB8AC3E}">
        <p14:creationId xmlns:p14="http://schemas.microsoft.com/office/powerpoint/2010/main" val="37251587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FB932EF-C06A-7FED-EFCC-14BAE5A3583A}"/>
              </a:ext>
            </a:extLst>
          </p:cNvPr>
          <p:cNvSpPr txBox="1"/>
          <p:nvPr/>
        </p:nvSpPr>
        <p:spPr>
          <a:xfrm>
            <a:off x="172064" y="245971"/>
            <a:ext cx="11847871" cy="1754326"/>
          </a:xfrm>
          <a:prstGeom prst="rect">
            <a:avLst/>
          </a:prstGeom>
          <a:noFill/>
        </p:spPr>
        <p:txBody>
          <a:bodyPr wrap="square">
            <a:spAutoFit/>
          </a:bodyPr>
          <a:lstStyle/>
          <a:p>
            <a:r>
              <a:rPr lang="en-US" b="1" dirty="0"/>
              <a:t>Executive Summary for Government Stakeholders</a:t>
            </a:r>
          </a:p>
          <a:p>
            <a:r>
              <a:rPr lang="en-US" b="1" dirty="0"/>
              <a:t>Overview</a:t>
            </a:r>
          </a:p>
          <a:p>
            <a:r>
              <a:rPr lang="en-US" dirty="0"/>
              <a:t>The </a:t>
            </a:r>
            <a:r>
              <a:rPr lang="en-US" b="1" dirty="0"/>
              <a:t>Executive Summary for Government Stakeholders</a:t>
            </a:r>
            <a:r>
              <a:rPr lang="en-US" dirty="0"/>
              <a:t> translates complex predictive modeling into high-level, actionable policy and economic insights. Government bodies, workforce development agencies, and educational regulators care less about machine learning algorithms and more about how digital learning platforms impact skill alignment, public education funding efficiency, and economic readiness.</a:t>
            </a:r>
          </a:p>
        </p:txBody>
      </p:sp>
      <p:sp>
        <p:nvSpPr>
          <p:cNvPr id="7" name="TextBox 6">
            <a:extLst>
              <a:ext uri="{FF2B5EF4-FFF2-40B4-BE49-F238E27FC236}">
                <a16:creationId xmlns:a16="http://schemas.microsoft.com/office/drawing/2014/main" id="{3CCF01A5-792F-5AB3-E124-DED72244C546}"/>
              </a:ext>
            </a:extLst>
          </p:cNvPr>
          <p:cNvSpPr txBox="1"/>
          <p:nvPr/>
        </p:nvSpPr>
        <p:spPr>
          <a:xfrm>
            <a:off x="275303" y="2163207"/>
            <a:ext cx="6096000" cy="4247317"/>
          </a:xfrm>
          <a:prstGeom prst="rect">
            <a:avLst/>
          </a:prstGeom>
          <a:noFill/>
        </p:spPr>
        <p:txBody>
          <a:bodyPr wrap="square">
            <a:spAutoFit/>
          </a:bodyPr>
          <a:lstStyle/>
          <a:p>
            <a:pPr lvl="0"/>
            <a:r>
              <a:rPr lang="en-US" b="1" dirty="0"/>
              <a:t>1. Alignment with Workforce &amp; Economic Goals</a:t>
            </a:r>
            <a:endParaRPr lang="en-US" dirty="0"/>
          </a:p>
          <a:p>
            <a:pPr lvl="1"/>
            <a:r>
              <a:rPr lang="en-US" dirty="0"/>
              <a:t>Details how predictive demand modeling helps identify emerging industry skill gaps (e.g., high demand in specific tech or business categories).</a:t>
            </a:r>
          </a:p>
          <a:p>
            <a:pPr lvl="1"/>
            <a:r>
              <a:rPr lang="en-US" dirty="0"/>
              <a:t>Demonstrates how data-driven course forecasting aligns online learning with national/regional workforce development initiatives.</a:t>
            </a:r>
          </a:p>
          <a:p>
            <a:pPr lvl="0"/>
            <a:r>
              <a:rPr lang="en-US" b="1" dirty="0"/>
              <a:t>2. Resource Allocation &amp; Public Investment Efficiency</a:t>
            </a:r>
            <a:endParaRPr lang="en-US" dirty="0"/>
          </a:p>
          <a:p>
            <a:pPr lvl="1"/>
            <a:r>
              <a:rPr lang="en-US" dirty="0"/>
              <a:t>Outlines how forecasting course success and revenue prevents wasted financial resources on obsolete or under-enrolled programs.</a:t>
            </a:r>
          </a:p>
          <a:p>
            <a:pPr lvl="1"/>
            <a:r>
              <a:rPr lang="en-US" dirty="0"/>
              <a:t>Shows how public subsidies, grants, or educational partnerships can be targeted toward high-impact categories.</a:t>
            </a:r>
          </a:p>
          <a:p>
            <a:pPr marL="342900" lvl="0" indent="-342900">
              <a:buFont typeface="Arial" panose="020B0604020202020204" pitchFamily="34" charset="0"/>
              <a:buChar char="•"/>
            </a:pPr>
            <a:endParaRPr lang="en-US" dirty="0"/>
          </a:p>
        </p:txBody>
      </p:sp>
      <p:sp>
        <p:nvSpPr>
          <p:cNvPr id="9" name="TextBox 8">
            <a:extLst>
              <a:ext uri="{FF2B5EF4-FFF2-40B4-BE49-F238E27FC236}">
                <a16:creationId xmlns:a16="http://schemas.microsoft.com/office/drawing/2014/main" id="{6B37FB7A-C454-A404-4337-B2349383AA3F}"/>
              </a:ext>
            </a:extLst>
          </p:cNvPr>
          <p:cNvSpPr txBox="1"/>
          <p:nvPr/>
        </p:nvSpPr>
        <p:spPr>
          <a:xfrm>
            <a:off x="6041922" y="2163207"/>
            <a:ext cx="6096000" cy="3970318"/>
          </a:xfrm>
          <a:prstGeom prst="rect">
            <a:avLst/>
          </a:prstGeom>
          <a:noFill/>
        </p:spPr>
        <p:txBody>
          <a:bodyPr wrap="square">
            <a:spAutoFit/>
          </a:bodyPr>
          <a:lstStyle/>
          <a:p>
            <a:pPr lvl="0"/>
            <a:r>
              <a:rPr lang="en-US" b="1" dirty="0"/>
              <a:t>3. Regulatory &amp; Accessibility Compliance</a:t>
            </a:r>
            <a:endParaRPr lang="en-US" dirty="0"/>
          </a:p>
          <a:p>
            <a:pPr lvl="1"/>
            <a:r>
              <a:rPr lang="en-US" dirty="0"/>
              <a:t>Summarizes how pricing models and course durations affect educational accessibility across different demographic tiers.</a:t>
            </a:r>
          </a:p>
          <a:p>
            <a:pPr lvl="1"/>
            <a:r>
              <a:rPr lang="en-US" dirty="0"/>
              <a:t>Ensures data privacy, algorithmic fairness, and ethical standard compliance when using predictive models to drive educational decisions.</a:t>
            </a:r>
          </a:p>
          <a:p>
            <a:pPr lvl="0"/>
            <a:r>
              <a:rPr lang="en-US" b="1" dirty="0"/>
              <a:t>4. Strategic Policy Recommendations</a:t>
            </a:r>
            <a:endParaRPr lang="en-US" dirty="0"/>
          </a:p>
          <a:p>
            <a:pPr lvl="1"/>
            <a:r>
              <a:rPr lang="en-US" dirty="0"/>
              <a:t>Translates top predictive drivers (e.g., pricing sensitivity, instructor experience) into high-level policy recommendations for digital education frameworks.</a:t>
            </a:r>
          </a:p>
          <a:p>
            <a:pPr lvl="1"/>
            <a:r>
              <a:rPr lang="en-US" dirty="0"/>
              <a:t>Highlights long-term economic scalability and sustainable revenue models for public-private educational partnerships.</a:t>
            </a:r>
          </a:p>
        </p:txBody>
      </p:sp>
    </p:spTree>
    <p:extLst>
      <p:ext uri="{BB962C8B-B14F-4D97-AF65-F5344CB8AC3E}">
        <p14:creationId xmlns:p14="http://schemas.microsoft.com/office/powerpoint/2010/main" val="805403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21CB496-69EB-FF87-F2F7-E70C9D68C3FF}"/>
              </a:ext>
            </a:extLst>
          </p:cNvPr>
          <p:cNvSpPr txBox="1"/>
          <p:nvPr/>
        </p:nvSpPr>
        <p:spPr>
          <a:xfrm>
            <a:off x="4217172" y="3183193"/>
            <a:ext cx="6094268" cy="830997"/>
          </a:xfrm>
          <a:prstGeom prst="rect">
            <a:avLst/>
          </a:prstGeom>
          <a:noFill/>
        </p:spPr>
        <p:txBody>
          <a:bodyPr wrap="square">
            <a:spAutoFit/>
          </a:bodyPr>
          <a:lstStyle/>
          <a:p>
            <a:pPr>
              <a:buNone/>
            </a:pPr>
            <a:r>
              <a:rPr lang="en-US" sz="4800" dirty="0"/>
              <a:t>Thank you</a:t>
            </a:r>
          </a:p>
        </p:txBody>
      </p:sp>
    </p:spTree>
    <p:extLst>
      <p:ext uri="{BB962C8B-B14F-4D97-AF65-F5344CB8AC3E}">
        <p14:creationId xmlns:p14="http://schemas.microsoft.com/office/powerpoint/2010/main" val="374766823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4956</TotalTime>
  <Words>513</Words>
  <Application>Microsoft Office PowerPoint</Application>
  <PresentationFormat>Widescreen</PresentationFormat>
  <Paragraphs>31</Paragraphs>
  <Slides>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Bahnschrift SemiBold Condensed</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Muskan Sharma</cp:lastModifiedBy>
  <cp:revision>18</cp:revision>
  <dcterms:created xsi:type="dcterms:W3CDTF">2013-01-27T09:14:16Z</dcterms:created>
  <dcterms:modified xsi:type="dcterms:W3CDTF">2026-08-08T21:04:49Z</dcterms:modified>
  <cp:category/>
</cp:coreProperties>
</file>